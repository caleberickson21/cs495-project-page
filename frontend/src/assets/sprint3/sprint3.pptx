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62" r:id="rId4"/>
    <p:sldId id="265" r:id="rId5"/>
    <p:sldId id="260" r:id="rId6"/>
    <p:sldId id="275" r:id="rId7"/>
    <p:sldId id="263" r:id="rId8"/>
    <p:sldId id="278" r:id="rId9"/>
    <p:sldId id="277" r:id="rId10"/>
    <p:sldId id="273" r:id="rId11"/>
    <p:sldId id="261" r:id="rId12"/>
    <p:sldId id="264" r:id="rId13"/>
    <p:sldId id="266" r:id="rId14"/>
    <p:sldId id="272" r:id="rId15"/>
    <p:sldId id="274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AAC65-4E8B-9193-04BA-B8A1C39A4F6A}" v="846" dt="2026-04-21T03:55:27.109"/>
    <p1510:client id="{1301FF72-120B-D69F-252F-1E18E17F0CAF}" v="361" dt="2026-04-21T17:36:27.807"/>
    <p1510:client id="{465F784D-705A-84A3-65A1-1CEDFBDD17E4}" v="9" dt="2026-04-21T16:53:20.641"/>
    <p1510:client id="{47392FD9-4B35-8D59-63B3-745784AE2818}" v="419" dt="2026-04-21T02:22:45.480"/>
    <p1510:client id="{4C0DDE2E-B086-9B0C-DDBA-C6F42AC0AD1B}" v="16" dt="2026-04-21T04:57:25.396"/>
    <p1510:client id="{55C935CC-A317-6C88-2116-39DB856666F6}" v="10" dt="2026-04-21T17:40:28.865"/>
    <p1510:client id="{A53E0AD8-4A66-5B38-1D77-D9E1278D6825}" v="47" dt="2026-04-21T01:41:06.525"/>
    <p1510:client id="{D61BF59F-61AA-703F-7ACC-D39B184C68ED}" v="386" dt="2026-04-21T15:59:53.270"/>
    <p1510:client id="{E98CCEF2-C122-FA78-8643-192EA57849D2}" v="23" dt="2026-04-21T14:08:35.856"/>
    <p1510:client id="{F8B8D97C-B29C-8CDF-6DD5-4D474B604698}" v="79" dt="2026-04-21T03:23:31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662C76-67AD-4A78-87CE-3F2EE9F60C40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C673A98-E893-420B-A165-FEB90BE2F09B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Implement TLS encryption to serve app ov</a:t>
          </a:r>
          <a:r>
            <a:rPr lang="en-US" i="0">
              <a:latin typeface="Aptos Display" panose="02110004020202020204"/>
            </a:rPr>
            <a:t>er HTTPS</a:t>
          </a:r>
          <a:endParaRPr lang="en-US" i="0"/>
        </a:p>
      </dgm:t>
    </dgm:pt>
    <dgm:pt modelId="{2A25487D-01DD-4EA6-B72C-98D0C0C3F442}" type="parTrans" cxnId="{A91447B7-5AB3-47AA-A19E-38EE2FAB78B5}">
      <dgm:prSet/>
      <dgm:spPr/>
      <dgm:t>
        <a:bodyPr/>
        <a:lstStyle/>
        <a:p>
          <a:endParaRPr lang="en-US"/>
        </a:p>
      </dgm:t>
    </dgm:pt>
    <dgm:pt modelId="{8F510049-8001-4437-A0BA-773F6EA72694}" type="sibTrans" cxnId="{A91447B7-5AB3-47AA-A19E-38EE2FAB78B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D422EF0-CE69-406A-9226-43019A459C2A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LLM Integration</a:t>
          </a:r>
          <a:endParaRPr lang="en-US"/>
        </a:p>
      </dgm:t>
    </dgm:pt>
    <dgm:pt modelId="{7F33B575-3F12-4584-9D54-FA2172EFCDB4}" type="parTrans" cxnId="{B7EBAF56-E640-4DAE-B159-BA1816CAFE1F}">
      <dgm:prSet/>
      <dgm:spPr/>
      <dgm:t>
        <a:bodyPr/>
        <a:lstStyle/>
        <a:p>
          <a:endParaRPr lang="en-US"/>
        </a:p>
      </dgm:t>
    </dgm:pt>
    <dgm:pt modelId="{2BE05D5F-FAB0-463C-B460-F1D4334D4474}" type="sibTrans" cxnId="{B7EBAF56-E640-4DAE-B159-BA1816CAFE1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5E86EBC-B243-492F-AE64-5576C3CD0CE6}">
      <dgm:prSet phldr="0"/>
      <dgm:spPr/>
      <dgm:t>
        <a:bodyPr/>
        <a:lstStyle/>
        <a:p>
          <a:r>
            <a:rPr lang="en-US" sz="1400">
              <a:latin typeface="Aptos Display" panose="02110004020202020204"/>
            </a:rPr>
            <a:t>Use LLM to create a weekly summary for stakeholders</a:t>
          </a:r>
          <a:endParaRPr lang="en-US" sz="1400"/>
        </a:p>
      </dgm:t>
    </dgm:pt>
    <dgm:pt modelId="{BA4B86E0-6CBF-4CFC-B2E8-1D704AB6FA38}" type="parTrans" cxnId="{788A5C95-4027-4B2D-BFD6-D2529A435523}">
      <dgm:prSet/>
      <dgm:spPr/>
    </dgm:pt>
    <dgm:pt modelId="{D28CD261-92E0-4726-8BC7-AC8C1C1FCC00}" type="sibTrans" cxnId="{788A5C95-4027-4B2D-BFD6-D2529A435523}">
      <dgm:prSet phldrT="3" phldr="0"/>
      <dgm:spPr/>
    </dgm:pt>
    <dgm:pt modelId="{8270858D-51F1-44A7-9860-67335500F8F5}">
      <dgm:prSet phldr="0"/>
      <dgm:spPr/>
      <dgm:t>
        <a:bodyPr/>
        <a:lstStyle/>
        <a:p>
          <a:r>
            <a:rPr lang="en-US">
              <a:latin typeface="Aptos Display" panose="02110004020202020204"/>
            </a:rPr>
            <a:t>Document final OS</a:t>
          </a:r>
          <a:r>
            <a:rPr lang="en-US" sz="1800">
              <a:latin typeface="Aptos Display" panose="02110004020202020204"/>
            </a:rPr>
            <a:t> workflow and provide a handoff guide</a:t>
          </a:r>
          <a:endParaRPr lang="en-US"/>
        </a:p>
      </dgm:t>
    </dgm:pt>
    <dgm:pt modelId="{AF93A2C5-E175-4B7C-ACDE-B287ABBF496A}" type="parTrans" cxnId="{859CB0D4-BA74-4F3C-9B42-13B4E65C28DB}">
      <dgm:prSet/>
      <dgm:spPr/>
    </dgm:pt>
    <dgm:pt modelId="{233FC329-53E1-470D-902A-2E0BA6C7B9FF}" type="sibTrans" cxnId="{859CB0D4-BA74-4F3C-9B42-13B4E65C28D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D6F75CC-B165-4A76-A992-A91549CE59B8}">
      <dgm:prSet phldr="0"/>
      <dgm:spPr/>
      <dgm:t>
        <a:bodyPr/>
        <a:lstStyle/>
        <a:p>
          <a:pPr rtl="0"/>
          <a:r>
            <a:rPr lang="en-US" sz="1400">
              <a:latin typeface="Aptos Display" panose="02110004020202020204"/>
            </a:rPr>
            <a:t>Sponsor stressed seamless transition to next group</a:t>
          </a:r>
        </a:p>
      </dgm:t>
    </dgm:pt>
    <dgm:pt modelId="{E4F24627-1057-401F-B02D-F9669E805FDA}" type="parTrans" cxnId="{6455A8A9-0CDC-4892-855A-F6A32C69C2F5}">
      <dgm:prSet/>
      <dgm:spPr/>
    </dgm:pt>
    <dgm:pt modelId="{FAB99840-D7C4-4117-AF97-D2B0898B28CB}" type="sibTrans" cxnId="{6455A8A9-0CDC-4892-855A-F6A32C69C2F5}">
      <dgm:prSet/>
      <dgm:spPr/>
    </dgm:pt>
    <dgm:pt modelId="{F4649CA7-45B4-4620-8EA8-EAAA378AE0AE}">
      <dgm:prSet phldr="0"/>
      <dgm:spPr/>
      <dgm:t>
        <a:bodyPr/>
        <a:lstStyle/>
        <a:p>
          <a:pPr rtl="0"/>
          <a:r>
            <a:rPr lang="en-US" sz="1400">
              <a:latin typeface="Aptos Display" panose="02110004020202020204"/>
            </a:rPr>
            <a:t>Cyber feedback</a:t>
          </a:r>
        </a:p>
      </dgm:t>
    </dgm:pt>
    <dgm:pt modelId="{11F15624-B02B-4189-A8C4-2E69A4DB35C4}" type="parTrans" cxnId="{71CF4327-789E-47E8-9084-C9B1A8A4400B}">
      <dgm:prSet/>
      <dgm:spPr/>
    </dgm:pt>
    <dgm:pt modelId="{3F3DDD45-E6B2-4600-89BA-0C62AB147A5E}" type="sibTrans" cxnId="{71CF4327-789E-47E8-9084-C9B1A8A4400B}">
      <dgm:prSet phldrT="2" phldr="0"/>
      <dgm:spPr/>
    </dgm:pt>
    <dgm:pt modelId="{0A9E67B4-F068-42EB-AECB-64E640C4C4B8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UI/UX improvements</a:t>
          </a:r>
          <a:endParaRPr lang="en-US"/>
        </a:p>
      </dgm:t>
    </dgm:pt>
    <dgm:pt modelId="{59671B75-D7FF-4B3F-9B0B-A16329D13AAC}" type="parTrans" cxnId="{9A5DC95D-9987-458E-AB69-1F6A4857B190}">
      <dgm:prSet/>
      <dgm:spPr/>
    </dgm:pt>
    <dgm:pt modelId="{F2A6B390-4F67-4D86-A9BE-97BB40F4EB31}" type="sibTrans" cxnId="{9A5DC95D-9987-458E-AB69-1F6A4857B19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66FAF9F-2858-43C8-B8B0-998451432F36}">
      <dgm:prSet phldr="0"/>
      <dgm:spPr/>
      <dgm:t>
        <a:bodyPr/>
        <a:lstStyle/>
        <a:p>
          <a:pPr rtl="0"/>
          <a:r>
            <a:rPr lang="en-US" sz="1400">
              <a:latin typeface="Aptos Display" panose="02110004020202020204"/>
            </a:rPr>
            <a:t>Sponsor wants a tabbed dashboard view</a:t>
          </a:r>
        </a:p>
      </dgm:t>
    </dgm:pt>
    <dgm:pt modelId="{E52B7F3C-4B98-4D70-8312-95D894DE3472}" type="parTrans" cxnId="{A77F3672-5D6D-409D-B1A3-74949F7E28CE}">
      <dgm:prSet/>
      <dgm:spPr/>
    </dgm:pt>
    <dgm:pt modelId="{DE28C224-E3BA-4D5B-9395-5BC0245E7BB1}" type="sibTrans" cxnId="{A77F3672-5D6D-409D-B1A3-74949F7E28CE}">
      <dgm:prSet phldrT="4" phldr="0"/>
      <dgm:spPr/>
    </dgm:pt>
    <dgm:pt modelId="{E3284662-2D55-4FD4-A3BA-B3D1CE9F2BF6}" type="pres">
      <dgm:prSet presAssocID="{27662C76-67AD-4A78-87CE-3F2EE9F60C40}" presName="Name0" presStyleCnt="0">
        <dgm:presLayoutVars>
          <dgm:animLvl val="lvl"/>
          <dgm:resizeHandles val="exact"/>
        </dgm:presLayoutVars>
      </dgm:prSet>
      <dgm:spPr/>
    </dgm:pt>
    <dgm:pt modelId="{625F26A6-9720-460D-8D5B-1740D625F3D4}" type="pres">
      <dgm:prSet presAssocID="{5C673A98-E893-420B-A165-FEB90BE2F09B}" presName="compositeNode" presStyleCnt="0">
        <dgm:presLayoutVars>
          <dgm:bulletEnabled val="1"/>
        </dgm:presLayoutVars>
      </dgm:prSet>
      <dgm:spPr/>
    </dgm:pt>
    <dgm:pt modelId="{9E2A184C-CBBA-441F-8CA4-C91A52EB264A}" type="pres">
      <dgm:prSet presAssocID="{5C673A98-E893-420B-A165-FEB90BE2F09B}" presName="bgRect" presStyleLbl="bgAccFollowNode1" presStyleIdx="0" presStyleCnt="4"/>
      <dgm:spPr/>
    </dgm:pt>
    <dgm:pt modelId="{FFF31957-AF20-49A0-A073-9FE69DF86036}" type="pres">
      <dgm:prSet presAssocID="{8F510049-8001-4437-A0BA-773F6EA72694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7CD7406-8CCF-49AA-9967-F0891402971E}" type="pres">
      <dgm:prSet presAssocID="{5C673A98-E893-420B-A165-FEB90BE2F09B}" presName="bottomLine" presStyleLbl="alignNode1" presStyleIdx="1" presStyleCnt="8">
        <dgm:presLayoutVars/>
      </dgm:prSet>
      <dgm:spPr/>
    </dgm:pt>
    <dgm:pt modelId="{AA625E0A-8A70-4C6D-AC93-A41DF4AA857C}" type="pres">
      <dgm:prSet presAssocID="{5C673A98-E893-420B-A165-FEB90BE2F09B}" presName="nodeText" presStyleLbl="bgAccFollowNode1" presStyleIdx="0" presStyleCnt="4">
        <dgm:presLayoutVars>
          <dgm:bulletEnabled val="1"/>
        </dgm:presLayoutVars>
      </dgm:prSet>
      <dgm:spPr/>
    </dgm:pt>
    <dgm:pt modelId="{C02CE510-549D-4BAA-BD48-210EC3D2AF89}" type="pres">
      <dgm:prSet presAssocID="{8F510049-8001-4437-A0BA-773F6EA72694}" presName="sibTrans" presStyleCnt="0"/>
      <dgm:spPr/>
    </dgm:pt>
    <dgm:pt modelId="{95D3AF72-AA81-4FA8-A9CA-AC191AF41B58}" type="pres">
      <dgm:prSet presAssocID="{4D422EF0-CE69-406A-9226-43019A459C2A}" presName="compositeNode" presStyleCnt="0">
        <dgm:presLayoutVars>
          <dgm:bulletEnabled val="1"/>
        </dgm:presLayoutVars>
      </dgm:prSet>
      <dgm:spPr/>
    </dgm:pt>
    <dgm:pt modelId="{B32D1F03-3E4F-4F1D-811D-E82C3EBDEFED}" type="pres">
      <dgm:prSet presAssocID="{4D422EF0-CE69-406A-9226-43019A459C2A}" presName="bgRect" presStyleLbl="bgAccFollowNode1" presStyleIdx="1" presStyleCnt="4"/>
      <dgm:spPr/>
    </dgm:pt>
    <dgm:pt modelId="{D6F19FCE-39EF-47A5-97E1-89A85906A293}" type="pres">
      <dgm:prSet presAssocID="{2BE05D5F-FAB0-463C-B460-F1D4334D4474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3EFA9D7-2C3E-4D1E-AAB2-FE39567E8738}" type="pres">
      <dgm:prSet presAssocID="{4D422EF0-CE69-406A-9226-43019A459C2A}" presName="bottomLine" presStyleLbl="alignNode1" presStyleIdx="3" presStyleCnt="8">
        <dgm:presLayoutVars/>
      </dgm:prSet>
      <dgm:spPr/>
    </dgm:pt>
    <dgm:pt modelId="{787B199D-39FE-4468-BA03-3A268A44FE4E}" type="pres">
      <dgm:prSet presAssocID="{4D422EF0-CE69-406A-9226-43019A459C2A}" presName="nodeText" presStyleLbl="bgAccFollowNode1" presStyleIdx="1" presStyleCnt="4">
        <dgm:presLayoutVars>
          <dgm:bulletEnabled val="1"/>
        </dgm:presLayoutVars>
      </dgm:prSet>
      <dgm:spPr/>
    </dgm:pt>
    <dgm:pt modelId="{C867AB0E-90F5-4181-9A64-49CC47229117}" type="pres">
      <dgm:prSet presAssocID="{2BE05D5F-FAB0-463C-B460-F1D4334D4474}" presName="sibTrans" presStyleCnt="0"/>
      <dgm:spPr/>
    </dgm:pt>
    <dgm:pt modelId="{4622A7BD-8BE2-482A-98A4-F0E2B2CDAD0F}" type="pres">
      <dgm:prSet presAssocID="{0A9E67B4-F068-42EB-AECB-64E640C4C4B8}" presName="compositeNode" presStyleCnt="0">
        <dgm:presLayoutVars>
          <dgm:bulletEnabled val="1"/>
        </dgm:presLayoutVars>
      </dgm:prSet>
      <dgm:spPr/>
    </dgm:pt>
    <dgm:pt modelId="{8609F9BC-4841-4E75-A9FC-4022238C85EA}" type="pres">
      <dgm:prSet presAssocID="{0A9E67B4-F068-42EB-AECB-64E640C4C4B8}" presName="bgRect" presStyleLbl="bgAccFollowNode1" presStyleIdx="2" presStyleCnt="4"/>
      <dgm:spPr/>
    </dgm:pt>
    <dgm:pt modelId="{4768F571-4958-4A52-9E9E-0CCD516487BE}" type="pres">
      <dgm:prSet presAssocID="{F2A6B390-4F67-4D86-A9BE-97BB40F4EB3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032D107-E1D2-43DA-B16D-E10C96988AF1}" type="pres">
      <dgm:prSet presAssocID="{0A9E67B4-F068-42EB-AECB-64E640C4C4B8}" presName="bottomLine" presStyleLbl="alignNode1" presStyleIdx="5" presStyleCnt="8">
        <dgm:presLayoutVars/>
      </dgm:prSet>
      <dgm:spPr/>
    </dgm:pt>
    <dgm:pt modelId="{E384D9BE-4AB8-44EF-AB78-4BCBFED17E7B}" type="pres">
      <dgm:prSet presAssocID="{0A9E67B4-F068-42EB-AECB-64E640C4C4B8}" presName="nodeText" presStyleLbl="bgAccFollowNode1" presStyleIdx="2" presStyleCnt="4">
        <dgm:presLayoutVars>
          <dgm:bulletEnabled val="1"/>
        </dgm:presLayoutVars>
      </dgm:prSet>
      <dgm:spPr/>
    </dgm:pt>
    <dgm:pt modelId="{61916B0D-B21D-4EC4-9F65-6B5CD9CBD714}" type="pres">
      <dgm:prSet presAssocID="{F2A6B390-4F67-4D86-A9BE-97BB40F4EB31}" presName="sibTrans" presStyleCnt="0"/>
      <dgm:spPr/>
    </dgm:pt>
    <dgm:pt modelId="{228336C5-8887-4832-AE7C-6055992457F8}" type="pres">
      <dgm:prSet presAssocID="{8270858D-51F1-44A7-9860-67335500F8F5}" presName="compositeNode" presStyleCnt="0">
        <dgm:presLayoutVars>
          <dgm:bulletEnabled val="1"/>
        </dgm:presLayoutVars>
      </dgm:prSet>
      <dgm:spPr/>
    </dgm:pt>
    <dgm:pt modelId="{50C3BAFF-9003-440D-8498-5D55BB82FED3}" type="pres">
      <dgm:prSet presAssocID="{8270858D-51F1-44A7-9860-67335500F8F5}" presName="bgRect" presStyleLbl="bgAccFollowNode1" presStyleIdx="3" presStyleCnt="4"/>
      <dgm:spPr/>
    </dgm:pt>
    <dgm:pt modelId="{20896555-0822-46D7-B7AF-F2DFB26455D8}" type="pres">
      <dgm:prSet presAssocID="{233FC329-53E1-470D-902A-2E0BA6C7B9F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0EEFE15B-D76E-49C0-91D0-3C0B44AD685F}" type="pres">
      <dgm:prSet presAssocID="{8270858D-51F1-44A7-9860-67335500F8F5}" presName="bottomLine" presStyleLbl="alignNode1" presStyleIdx="7" presStyleCnt="8">
        <dgm:presLayoutVars/>
      </dgm:prSet>
      <dgm:spPr/>
    </dgm:pt>
    <dgm:pt modelId="{DD9A4408-D5D7-48E7-B6A6-03A842D5B5E5}" type="pres">
      <dgm:prSet presAssocID="{8270858D-51F1-44A7-9860-67335500F8F5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71CF4327-789E-47E8-9084-C9B1A8A4400B}" srcId="{5C673A98-E893-420B-A165-FEB90BE2F09B}" destId="{F4649CA7-45B4-4620-8EA8-EAAA378AE0AE}" srcOrd="0" destOrd="0" parTransId="{11F15624-B02B-4189-A8C4-2E69A4DB35C4}" sibTransId="{3F3DDD45-E6B2-4600-89BA-0C62AB147A5E}"/>
    <dgm:cxn modelId="{9A5DC95D-9987-458E-AB69-1F6A4857B190}" srcId="{27662C76-67AD-4A78-87CE-3F2EE9F60C40}" destId="{0A9E67B4-F068-42EB-AECB-64E640C4C4B8}" srcOrd="2" destOrd="0" parTransId="{59671B75-D7FF-4B3F-9B0B-A16329D13AAC}" sibTransId="{F2A6B390-4F67-4D86-A9BE-97BB40F4EB31}"/>
    <dgm:cxn modelId="{F8BCDB5E-2834-421C-8437-BE10B7160647}" type="presOf" srcId="{A5E86EBC-B243-492F-AE64-5576C3CD0CE6}" destId="{787B199D-39FE-4468-BA03-3A268A44FE4E}" srcOrd="0" destOrd="1" presId="urn:microsoft.com/office/officeart/2016/7/layout/BasicLinearProcessNumbered"/>
    <dgm:cxn modelId="{949D0D65-7670-4AD3-AAC9-B25F0826F768}" type="presOf" srcId="{0A9E67B4-F068-42EB-AECB-64E640C4C4B8}" destId="{8609F9BC-4841-4E75-A9FC-4022238C85EA}" srcOrd="0" destOrd="0" presId="urn:microsoft.com/office/officeart/2016/7/layout/BasicLinearProcessNumbered"/>
    <dgm:cxn modelId="{A77F3672-5D6D-409D-B1A3-74949F7E28CE}" srcId="{0A9E67B4-F068-42EB-AECB-64E640C4C4B8}" destId="{F66FAF9F-2858-43C8-B8B0-998451432F36}" srcOrd="0" destOrd="0" parTransId="{E52B7F3C-4B98-4D70-8312-95D894DE3472}" sibTransId="{DE28C224-E3BA-4D5B-9395-5BC0245E7BB1}"/>
    <dgm:cxn modelId="{26880D55-5F87-4B11-B806-FCD9ABFAB50C}" type="presOf" srcId="{233FC329-53E1-470D-902A-2E0BA6C7B9FF}" destId="{20896555-0822-46D7-B7AF-F2DFB26455D8}" srcOrd="0" destOrd="0" presId="urn:microsoft.com/office/officeart/2016/7/layout/BasicLinearProcessNumbered"/>
    <dgm:cxn modelId="{B7EBAF56-E640-4DAE-B159-BA1816CAFE1F}" srcId="{27662C76-67AD-4A78-87CE-3F2EE9F60C40}" destId="{4D422EF0-CE69-406A-9226-43019A459C2A}" srcOrd="1" destOrd="0" parTransId="{7F33B575-3F12-4584-9D54-FA2172EFCDB4}" sibTransId="{2BE05D5F-FAB0-463C-B460-F1D4334D4474}"/>
    <dgm:cxn modelId="{75B5CB57-C4B4-4299-8F5B-43987B133379}" type="presOf" srcId="{F66FAF9F-2858-43C8-B8B0-998451432F36}" destId="{E384D9BE-4AB8-44EF-AB78-4BCBFED17E7B}" srcOrd="0" destOrd="1" presId="urn:microsoft.com/office/officeart/2016/7/layout/BasicLinearProcessNumbered"/>
    <dgm:cxn modelId="{8E311A7B-DD8F-45EA-B69A-32ACEA609820}" type="presOf" srcId="{0A9E67B4-F068-42EB-AECB-64E640C4C4B8}" destId="{E384D9BE-4AB8-44EF-AB78-4BCBFED17E7B}" srcOrd="1" destOrd="0" presId="urn:microsoft.com/office/officeart/2016/7/layout/BasicLinearProcessNumbered"/>
    <dgm:cxn modelId="{C7D3F28F-A8D0-4D77-8D76-358174F484D5}" type="presOf" srcId="{8270858D-51F1-44A7-9860-67335500F8F5}" destId="{DD9A4408-D5D7-48E7-B6A6-03A842D5B5E5}" srcOrd="1" destOrd="0" presId="urn:microsoft.com/office/officeart/2016/7/layout/BasicLinearProcessNumbered"/>
    <dgm:cxn modelId="{5001E994-5F62-4801-87B1-3F1F75B696FF}" type="presOf" srcId="{4D422EF0-CE69-406A-9226-43019A459C2A}" destId="{787B199D-39FE-4468-BA03-3A268A44FE4E}" srcOrd="1" destOrd="0" presId="urn:microsoft.com/office/officeart/2016/7/layout/BasicLinearProcessNumbered"/>
    <dgm:cxn modelId="{788A5C95-4027-4B2D-BFD6-D2529A435523}" srcId="{4D422EF0-CE69-406A-9226-43019A459C2A}" destId="{A5E86EBC-B243-492F-AE64-5576C3CD0CE6}" srcOrd="0" destOrd="0" parTransId="{BA4B86E0-6CBF-4CFC-B2E8-1D704AB6FA38}" sibTransId="{D28CD261-92E0-4726-8BC7-AC8C1C1FCC00}"/>
    <dgm:cxn modelId="{E39D209A-3EEC-4933-AD2F-64CF6632A304}" type="presOf" srcId="{8270858D-51F1-44A7-9860-67335500F8F5}" destId="{50C3BAFF-9003-440D-8498-5D55BB82FED3}" srcOrd="0" destOrd="0" presId="urn:microsoft.com/office/officeart/2016/7/layout/BasicLinearProcessNumbered"/>
    <dgm:cxn modelId="{CF8A189F-B223-4776-825A-96BA119BFC11}" type="presOf" srcId="{4D422EF0-CE69-406A-9226-43019A459C2A}" destId="{B32D1F03-3E4F-4F1D-811D-E82C3EBDEFED}" srcOrd="0" destOrd="0" presId="urn:microsoft.com/office/officeart/2016/7/layout/BasicLinearProcessNumbered"/>
    <dgm:cxn modelId="{6455A8A9-0CDC-4892-855A-F6A32C69C2F5}" srcId="{8270858D-51F1-44A7-9860-67335500F8F5}" destId="{FD6F75CC-B165-4A76-A992-A91549CE59B8}" srcOrd="0" destOrd="0" parTransId="{E4F24627-1057-401F-B02D-F9669E805FDA}" sibTransId="{FAB99840-D7C4-4117-AF97-D2B0898B28CB}"/>
    <dgm:cxn modelId="{A6BFE9AA-862B-4E99-81F8-1BE45B2F9A38}" type="presOf" srcId="{F4649CA7-45B4-4620-8EA8-EAAA378AE0AE}" destId="{AA625E0A-8A70-4C6D-AC93-A41DF4AA857C}" srcOrd="0" destOrd="1" presId="urn:microsoft.com/office/officeart/2016/7/layout/BasicLinearProcessNumbered"/>
    <dgm:cxn modelId="{D4CDADAC-FFCC-4AE7-8685-E201A3477BFF}" type="presOf" srcId="{5C673A98-E893-420B-A165-FEB90BE2F09B}" destId="{9E2A184C-CBBA-441F-8CA4-C91A52EB264A}" srcOrd="0" destOrd="0" presId="urn:microsoft.com/office/officeart/2016/7/layout/BasicLinearProcessNumbered"/>
    <dgm:cxn modelId="{5CA220B0-7CDE-476A-BB68-40C4AFBC237E}" type="presOf" srcId="{8F510049-8001-4437-A0BA-773F6EA72694}" destId="{FFF31957-AF20-49A0-A073-9FE69DF86036}" srcOrd="0" destOrd="0" presId="urn:microsoft.com/office/officeart/2016/7/layout/BasicLinearProcessNumbered"/>
    <dgm:cxn modelId="{F65A90B0-628B-4F40-BB19-C32F294229D8}" type="presOf" srcId="{2BE05D5F-FAB0-463C-B460-F1D4334D4474}" destId="{D6F19FCE-39EF-47A5-97E1-89A85906A293}" srcOrd="0" destOrd="0" presId="urn:microsoft.com/office/officeart/2016/7/layout/BasicLinearProcessNumbered"/>
    <dgm:cxn modelId="{106A82B1-5C71-4429-82A3-B9C6165B79E3}" type="presOf" srcId="{5C673A98-E893-420B-A165-FEB90BE2F09B}" destId="{AA625E0A-8A70-4C6D-AC93-A41DF4AA857C}" srcOrd="1" destOrd="0" presId="urn:microsoft.com/office/officeart/2016/7/layout/BasicLinearProcessNumbered"/>
    <dgm:cxn modelId="{A91447B7-5AB3-47AA-A19E-38EE2FAB78B5}" srcId="{27662C76-67AD-4A78-87CE-3F2EE9F60C40}" destId="{5C673A98-E893-420B-A165-FEB90BE2F09B}" srcOrd="0" destOrd="0" parTransId="{2A25487D-01DD-4EA6-B72C-98D0C0C3F442}" sibTransId="{8F510049-8001-4437-A0BA-773F6EA72694}"/>
    <dgm:cxn modelId="{859CB0D4-BA74-4F3C-9B42-13B4E65C28DB}" srcId="{27662C76-67AD-4A78-87CE-3F2EE9F60C40}" destId="{8270858D-51F1-44A7-9860-67335500F8F5}" srcOrd="3" destOrd="0" parTransId="{AF93A2C5-E175-4B7C-ACDE-B287ABBF496A}" sibTransId="{233FC329-53E1-470D-902A-2E0BA6C7B9FF}"/>
    <dgm:cxn modelId="{A97AA8DC-5880-46A1-9CD4-00C52F2631FC}" type="presOf" srcId="{27662C76-67AD-4A78-87CE-3F2EE9F60C40}" destId="{E3284662-2D55-4FD4-A3BA-B3D1CE9F2BF6}" srcOrd="0" destOrd="0" presId="urn:microsoft.com/office/officeart/2016/7/layout/BasicLinearProcessNumbered"/>
    <dgm:cxn modelId="{32762FE0-1417-41E7-A6D8-0C9B396E47AB}" type="presOf" srcId="{F2A6B390-4F67-4D86-A9BE-97BB40F4EB31}" destId="{4768F571-4958-4A52-9E9E-0CCD516487BE}" srcOrd="0" destOrd="0" presId="urn:microsoft.com/office/officeart/2016/7/layout/BasicLinearProcessNumbered"/>
    <dgm:cxn modelId="{B77F68E4-E0FC-4B7B-BE96-3B09F39BA6FB}" type="presOf" srcId="{FD6F75CC-B165-4A76-A992-A91549CE59B8}" destId="{DD9A4408-D5D7-48E7-B6A6-03A842D5B5E5}" srcOrd="0" destOrd="1" presId="urn:microsoft.com/office/officeart/2016/7/layout/BasicLinearProcessNumbered"/>
    <dgm:cxn modelId="{41EAAD29-409C-4089-BF31-58145202FF4D}" type="presParOf" srcId="{E3284662-2D55-4FD4-A3BA-B3D1CE9F2BF6}" destId="{625F26A6-9720-460D-8D5B-1740D625F3D4}" srcOrd="0" destOrd="0" presId="urn:microsoft.com/office/officeart/2016/7/layout/BasicLinearProcessNumbered"/>
    <dgm:cxn modelId="{0068385A-78CC-406D-B5B0-60632E7AE8C3}" type="presParOf" srcId="{625F26A6-9720-460D-8D5B-1740D625F3D4}" destId="{9E2A184C-CBBA-441F-8CA4-C91A52EB264A}" srcOrd="0" destOrd="0" presId="urn:microsoft.com/office/officeart/2016/7/layout/BasicLinearProcessNumbered"/>
    <dgm:cxn modelId="{3A7FFC5B-C0FB-444B-8578-F5682507FE65}" type="presParOf" srcId="{625F26A6-9720-460D-8D5B-1740D625F3D4}" destId="{FFF31957-AF20-49A0-A073-9FE69DF86036}" srcOrd="1" destOrd="0" presId="urn:microsoft.com/office/officeart/2016/7/layout/BasicLinearProcessNumbered"/>
    <dgm:cxn modelId="{BBFD8C42-0BF5-41CE-8F43-742468904405}" type="presParOf" srcId="{625F26A6-9720-460D-8D5B-1740D625F3D4}" destId="{37CD7406-8CCF-49AA-9967-F0891402971E}" srcOrd="2" destOrd="0" presId="urn:microsoft.com/office/officeart/2016/7/layout/BasicLinearProcessNumbered"/>
    <dgm:cxn modelId="{153E6420-EE79-4E95-B6D9-0F82124C05C9}" type="presParOf" srcId="{625F26A6-9720-460D-8D5B-1740D625F3D4}" destId="{AA625E0A-8A70-4C6D-AC93-A41DF4AA857C}" srcOrd="3" destOrd="0" presId="urn:microsoft.com/office/officeart/2016/7/layout/BasicLinearProcessNumbered"/>
    <dgm:cxn modelId="{D8609DCC-1618-4CCC-B0AD-170E0E0609FD}" type="presParOf" srcId="{E3284662-2D55-4FD4-A3BA-B3D1CE9F2BF6}" destId="{C02CE510-549D-4BAA-BD48-210EC3D2AF89}" srcOrd="1" destOrd="0" presId="urn:microsoft.com/office/officeart/2016/7/layout/BasicLinearProcessNumbered"/>
    <dgm:cxn modelId="{1DABFA2D-8CFD-4EC9-966E-CA126F73F6D3}" type="presParOf" srcId="{E3284662-2D55-4FD4-A3BA-B3D1CE9F2BF6}" destId="{95D3AF72-AA81-4FA8-A9CA-AC191AF41B58}" srcOrd="2" destOrd="0" presId="urn:microsoft.com/office/officeart/2016/7/layout/BasicLinearProcessNumbered"/>
    <dgm:cxn modelId="{77C4DB20-4A9B-4C11-A9A2-3B882B02E9CA}" type="presParOf" srcId="{95D3AF72-AA81-4FA8-A9CA-AC191AF41B58}" destId="{B32D1F03-3E4F-4F1D-811D-E82C3EBDEFED}" srcOrd="0" destOrd="0" presId="urn:microsoft.com/office/officeart/2016/7/layout/BasicLinearProcessNumbered"/>
    <dgm:cxn modelId="{70751B30-FE00-415D-872E-1DB472CB479C}" type="presParOf" srcId="{95D3AF72-AA81-4FA8-A9CA-AC191AF41B58}" destId="{D6F19FCE-39EF-47A5-97E1-89A85906A293}" srcOrd="1" destOrd="0" presId="urn:microsoft.com/office/officeart/2016/7/layout/BasicLinearProcessNumbered"/>
    <dgm:cxn modelId="{C9A84F4C-DBA8-41DC-B7E0-8211F1251764}" type="presParOf" srcId="{95D3AF72-AA81-4FA8-A9CA-AC191AF41B58}" destId="{D3EFA9D7-2C3E-4D1E-AAB2-FE39567E8738}" srcOrd="2" destOrd="0" presId="urn:microsoft.com/office/officeart/2016/7/layout/BasicLinearProcessNumbered"/>
    <dgm:cxn modelId="{A78B3F1F-41F5-47FA-91B5-757E6F9930ED}" type="presParOf" srcId="{95D3AF72-AA81-4FA8-A9CA-AC191AF41B58}" destId="{787B199D-39FE-4468-BA03-3A268A44FE4E}" srcOrd="3" destOrd="0" presId="urn:microsoft.com/office/officeart/2016/7/layout/BasicLinearProcessNumbered"/>
    <dgm:cxn modelId="{25A693A6-A6A5-46E7-8BB0-A80521408C2D}" type="presParOf" srcId="{E3284662-2D55-4FD4-A3BA-B3D1CE9F2BF6}" destId="{C867AB0E-90F5-4181-9A64-49CC47229117}" srcOrd="3" destOrd="0" presId="urn:microsoft.com/office/officeart/2016/7/layout/BasicLinearProcessNumbered"/>
    <dgm:cxn modelId="{1858E659-A21C-4159-AC27-68D6BD24DD20}" type="presParOf" srcId="{E3284662-2D55-4FD4-A3BA-B3D1CE9F2BF6}" destId="{4622A7BD-8BE2-482A-98A4-F0E2B2CDAD0F}" srcOrd="4" destOrd="0" presId="urn:microsoft.com/office/officeart/2016/7/layout/BasicLinearProcessNumbered"/>
    <dgm:cxn modelId="{14C0058E-25D9-4747-A0A7-236F20111042}" type="presParOf" srcId="{4622A7BD-8BE2-482A-98A4-F0E2B2CDAD0F}" destId="{8609F9BC-4841-4E75-A9FC-4022238C85EA}" srcOrd="0" destOrd="0" presId="urn:microsoft.com/office/officeart/2016/7/layout/BasicLinearProcessNumbered"/>
    <dgm:cxn modelId="{7941FFA6-CCF8-40D4-91AF-C5E72A029FA9}" type="presParOf" srcId="{4622A7BD-8BE2-482A-98A4-F0E2B2CDAD0F}" destId="{4768F571-4958-4A52-9E9E-0CCD516487BE}" srcOrd="1" destOrd="0" presId="urn:microsoft.com/office/officeart/2016/7/layout/BasicLinearProcessNumbered"/>
    <dgm:cxn modelId="{3B848209-C19A-46A7-A7F4-B00C46FA3B67}" type="presParOf" srcId="{4622A7BD-8BE2-482A-98A4-F0E2B2CDAD0F}" destId="{1032D107-E1D2-43DA-B16D-E10C96988AF1}" srcOrd="2" destOrd="0" presId="urn:microsoft.com/office/officeart/2016/7/layout/BasicLinearProcessNumbered"/>
    <dgm:cxn modelId="{EF2BA3C3-D4BE-48FA-BDB7-A81FE7EFE1F5}" type="presParOf" srcId="{4622A7BD-8BE2-482A-98A4-F0E2B2CDAD0F}" destId="{E384D9BE-4AB8-44EF-AB78-4BCBFED17E7B}" srcOrd="3" destOrd="0" presId="urn:microsoft.com/office/officeart/2016/7/layout/BasicLinearProcessNumbered"/>
    <dgm:cxn modelId="{33DE372E-081C-4FD3-BB5C-F5F147CE2419}" type="presParOf" srcId="{E3284662-2D55-4FD4-A3BA-B3D1CE9F2BF6}" destId="{61916B0D-B21D-4EC4-9F65-6B5CD9CBD714}" srcOrd="5" destOrd="0" presId="urn:microsoft.com/office/officeart/2016/7/layout/BasicLinearProcessNumbered"/>
    <dgm:cxn modelId="{A0FC8941-76C9-45EF-B673-74E01EDD8568}" type="presParOf" srcId="{E3284662-2D55-4FD4-A3BA-B3D1CE9F2BF6}" destId="{228336C5-8887-4832-AE7C-6055992457F8}" srcOrd="6" destOrd="0" presId="urn:microsoft.com/office/officeart/2016/7/layout/BasicLinearProcessNumbered"/>
    <dgm:cxn modelId="{63E0668D-B382-424A-BC94-398937C43428}" type="presParOf" srcId="{228336C5-8887-4832-AE7C-6055992457F8}" destId="{50C3BAFF-9003-440D-8498-5D55BB82FED3}" srcOrd="0" destOrd="0" presId="urn:microsoft.com/office/officeart/2016/7/layout/BasicLinearProcessNumbered"/>
    <dgm:cxn modelId="{B2484EE4-F10D-436C-8350-DC05D2DE7F63}" type="presParOf" srcId="{228336C5-8887-4832-AE7C-6055992457F8}" destId="{20896555-0822-46D7-B7AF-F2DFB26455D8}" srcOrd="1" destOrd="0" presId="urn:microsoft.com/office/officeart/2016/7/layout/BasicLinearProcessNumbered"/>
    <dgm:cxn modelId="{67118A7D-B553-4439-8D3C-6AF076C54BA4}" type="presParOf" srcId="{228336C5-8887-4832-AE7C-6055992457F8}" destId="{0EEFE15B-D76E-49C0-91D0-3C0B44AD685F}" srcOrd="2" destOrd="0" presId="urn:microsoft.com/office/officeart/2016/7/layout/BasicLinearProcessNumbered"/>
    <dgm:cxn modelId="{D69483BD-6AC4-452F-AEFE-47ED8D4F2796}" type="presParOf" srcId="{228336C5-8887-4832-AE7C-6055992457F8}" destId="{DD9A4408-D5D7-48E7-B6A6-03A842D5B5E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F9D357-45E9-46D6-9B84-86F4DE96E9A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2C7100-522F-4B34-81A3-5AC55FDB7A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>
              <a:latin typeface="Aptos Display" panose="02110004020202020204"/>
            </a:rPr>
            <a:t>Production Encryption</a:t>
          </a:r>
          <a:endParaRPr lang="en-US"/>
        </a:p>
      </dgm:t>
    </dgm:pt>
    <dgm:pt modelId="{91E3F776-9DFF-4D76-8935-020726D448B4}" type="parTrans" cxnId="{D1914BDE-42F7-426B-9E5E-7E720D9BB48B}">
      <dgm:prSet/>
      <dgm:spPr/>
      <dgm:t>
        <a:bodyPr/>
        <a:lstStyle/>
        <a:p>
          <a:endParaRPr lang="en-US"/>
        </a:p>
      </dgm:t>
    </dgm:pt>
    <dgm:pt modelId="{E313A004-C595-4AC8-8878-7FF2B623874A}" type="sibTrans" cxnId="{D1914BDE-42F7-426B-9E5E-7E720D9BB48B}">
      <dgm:prSet/>
      <dgm:spPr/>
      <dgm:t>
        <a:bodyPr/>
        <a:lstStyle/>
        <a:p>
          <a:endParaRPr lang="en-US"/>
        </a:p>
      </dgm:t>
    </dgm:pt>
    <dgm:pt modelId="{89EE43FD-B15B-46B2-8C8D-1FAB2AC66D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110004020202020204"/>
            </a:rPr>
            <a:t>Only allow traffic over HTTPS port 443</a:t>
          </a:r>
          <a:endParaRPr lang="en-US"/>
        </a:p>
      </dgm:t>
    </dgm:pt>
    <dgm:pt modelId="{E9CB98D8-0650-4BE5-9E5D-0DFE952C6C9A}" type="parTrans" cxnId="{4A50DE6E-C7D0-491D-9334-11835A112363}">
      <dgm:prSet/>
      <dgm:spPr/>
      <dgm:t>
        <a:bodyPr/>
        <a:lstStyle/>
        <a:p>
          <a:endParaRPr lang="en-US"/>
        </a:p>
      </dgm:t>
    </dgm:pt>
    <dgm:pt modelId="{A117B258-893C-41A4-9302-9FDB5B2CE34F}" type="sibTrans" cxnId="{4A50DE6E-C7D0-491D-9334-11835A112363}">
      <dgm:prSet/>
      <dgm:spPr/>
      <dgm:t>
        <a:bodyPr/>
        <a:lstStyle/>
        <a:p>
          <a:endParaRPr lang="en-US"/>
        </a:p>
      </dgm:t>
    </dgm:pt>
    <dgm:pt modelId="{EE6B566F-1D7B-4D61-A9B8-96C30AE92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110004020202020204"/>
            </a:rPr>
            <a:t>Avoid cross-site scripting via secure cookies</a:t>
          </a:r>
          <a:endParaRPr lang="en-US"/>
        </a:p>
      </dgm:t>
    </dgm:pt>
    <dgm:pt modelId="{A4857C83-96F7-4BA5-9805-84EEAAD466E8}" type="parTrans" cxnId="{58852368-5FFC-47AF-8765-A68CB558A17D}">
      <dgm:prSet/>
      <dgm:spPr/>
      <dgm:t>
        <a:bodyPr/>
        <a:lstStyle/>
        <a:p>
          <a:endParaRPr lang="en-US"/>
        </a:p>
      </dgm:t>
    </dgm:pt>
    <dgm:pt modelId="{E10567D6-E616-420C-82F9-CAA9B7F16905}" type="sibTrans" cxnId="{58852368-5FFC-47AF-8765-A68CB558A17D}">
      <dgm:prSet/>
      <dgm:spPr/>
      <dgm:t>
        <a:bodyPr/>
        <a:lstStyle/>
        <a:p>
          <a:endParaRPr lang="en-US"/>
        </a:p>
      </dgm:t>
    </dgm:pt>
    <dgm:pt modelId="{4AFC9E36-EE3D-453C-93D0-C39CF010E5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VM security</a:t>
          </a:r>
        </a:p>
      </dgm:t>
    </dgm:pt>
    <dgm:pt modelId="{F146E36D-58FA-4100-9E46-143FFF637565}" type="parTrans" cxnId="{1E4967E8-E772-4053-9A89-572E27F5C98F}">
      <dgm:prSet/>
      <dgm:spPr/>
      <dgm:t>
        <a:bodyPr/>
        <a:lstStyle/>
        <a:p>
          <a:endParaRPr lang="en-US"/>
        </a:p>
      </dgm:t>
    </dgm:pt>
    <dgm:pt modelId="{E29618EE-97FF-4247-942B-8A1D33E5B6C5}" type="sibTrans" cxnId="{1E4967E8-E772-4053-9A89-572E27F5C98F}">
      <dgm:prSet/>
      <dgm:spPr/>
      <dgm:t>
        <a:bodyPr/>
        <a:lstStyle/>
        <a:p>
          <a:endParaRPr lang="en-US"/>
        </a:p>
      </dgm:t>
    </dgm:pt>
    <dgm:pt modelId="{0D506CC6-94FB-4946-A20C-21E1BA03C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SSH access</a:t>
          </a:r>
          <a:r>
            <a:rPr lang="en-US">
              <a:latin typeface="Aptos Display" panose="02110004020202020204"/>
            </a:rPr>
            <a:t> limited to team member IP / keys</a:t>
          </a:r>
          <a:endParaRPr lang="en-US"/>
        </a:p>
      </dgm:t>
    </dgm:pt>
    <dgm:pt modelId="{26C37B8D-4283-4F72-93E7-81675813EA2D}" type="parTrans" cxnId="{20EA3DE8-BFC4-4E8E-A294-0CB4B2D798CD}">
      <dgm:prSet/>
      <dgm:spPr/>
      <dgm:t>
        <a:bodyPr/>
        <a:lstStyle/>
        <a:p>
          <a:endParaRPr lang="en-US"/>
        </a:p>
      </dgm:t>
    </dgm:pt>
    <dgm:pt modelId="{DF0B7115-B0D0-4052-B312-7057E8941650}" type="sibTrans" cxnId="{20EA3DE8-BFC4-4E8E-A294-0CB4B2D798CD}">
      <dgm:prSet/>
      <dgm:spPr/>
      <dgm:t>
        <a:bodyPr/>
        <a:lstStyle/>
        <a:p>
          <a:endParaRPr lang="en-US"/>
        </a:p>
      </dgm:t>
    </dgm:pt>
    <dgm:pt modelId="{3CB874F3-0CE0-463F-BF92-4B4D80118C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Inbound + outbound firewall traffic</a:t>
          </a:r>
        </a:p>
      </dgm:t>
    </dgm:pt>
    <dgm:pt modelId="{04169AB3-5BDC-4229-9B09-6FBD2F583876}" type="parTrans" cxnId="{A081299A-B4A2-496E-BCDC-4AD8762799C3}">
      <dgm:prSet/>
      <dgm:spPr/>
      <dgm:t>
        <a:bodyPr/>
        <a:lstStyle/>
        <a:p>
          <a:endParaRPr lang="en-US"/>
        </a:p>
      </dgm:t>
    </dgm:pt>
    <dgm:pt modelId="{B37840A6-13BB-465B-82D7-A7A9DCC585D2}" type="sibTrans" cxnId="{A081299A-B4A2-496E-BCDC-4AD8762799C3}">
      <dgm:prSet/>
      <dgm:spPr/>
      <dgm:t>
        <a:bodyPr/>
        <a:lstStyle/>
        <a:p>
          <a:endParaRPr lang="en-US"/>
        </a:p>
      </dgm:t>
    </dgm:pt>
    <dgm:pt modelId="{C92DAC44-0A14-4933-A75A-C55240639F9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110004020202020204"/>
            </a:rPr>
            <a:t>Avoid running Docker as root to prevent privilege escalation</a:t>
          </a:r>
          <a:endParaRPr lang="en-US"/>
        </a:p>
      </dgm:t>
    </dgm:pt>
    <dgm:pt modelId="{68D5C3F0-4BE4-406E-B15C-BA4C128A2A33}" type="parTrans" cxnId="{16CBA567-0382-49DF-9FDF-048F11FD9E16}">
      <dgm:prSet/>
      <dgm:spPr/>
    </dgm:pt>
    <dgm:pt modelId="{0103BEE7-845B-4A17-968B-454CBBC3FCFD}" type="sibTrans" cxnId="{16CBA567-0382-49DF-9FDF-048F11FD9E16}">
      <dgm:prSet/>
      <dgm:spPr/>
    </dgm:pt>
    <dgm:pt modelId="{9438F563-8444-4364-9BAF-A4FED57F9D0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110004020202020204"/>
            </a:rPr>
            <a:t>Use Nginx reverse proxy</a:t>
          </a:r>
        </a:p>
      </dgm:t>
    </dgm:pt>
    <dgm:pt modelId="{D2A61A8E-F218-4D80-AD73-B4A771506FE2}" type="parTrans" cxnId="{28648A64-8A04-4DCE-9942-631E40FE4C19}">
      <dgm:prSet/>
      <dgm:spPr/>
    </dgm:pt>
    <dgm:pt modelId="{4745B4B1-1C4D-430D-84B0-C75C1E8C05E5}" type="sibTrans" cxnId="{28648A64-8A04-4DCE-9942-631E40FE4C19}">
      <dgm:prSet/>
      <dgm:spPr/>
    </dgm:pt>
    <dgm:pt modelId="{56C52561-4AA6-4A74-8E9C-C8AB5053F5C4}" type="pres">
      <dgm:prSet presAssocID="{F8F9D357-45E9-46D6-9B84-86F4DE96E9A4}" presName="root" presStyleCnt="0">
        <dgm:presLayoutVars>
          <dgm:dir/>
          <dgm:resizeHandles val="exact"/>
        </dgm:presLayoutVars>
      </dgm:prSet>
      <dgm:spPr/>
    </dgm:pt>
    <dgm:pt modelId="{30D8E32B-7643-45C6-AFE8-BFC5D0AFA806}" type="pres">
      <dgm:prSet presAssocID="{A02C7100-522F-4B34-81A3-5AC55FDB7A78}" presName="compNode" presStyleCnt="0"/>
      <dgm:spPr/>
    </dgm:pt>
    <dgm:pt modelId="{D4931DD6-9F79-46E1-B991-9ECEC73B7706}" type="pres">
      <dgm:prSet presAssocID="{A02C7100-522F-4B34-81A3-5AC55FDB7A7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C8B743B-71E2-453D-AED7-5F7DB482B547}" type="pres">
      <dgm:prSet presAssocID="{A02C7100-522F-4B34-81A3-5AC55FDB7A78}" presName="iconSpace" presStyleCnt="0"/>
      <dgm:spPr/>
    </dgm:pt>
    <dgm:pt modelId="{92A1E7F7-D227-4AA3-95B6-4CEE76BBE59E}" type="pres">
      <dgm:prSet presAssocID="{A02C7100-522F-4B34-81A3-5AC55FDB7A78}" presName="parTx" presStyleLbl="revTx" presStyleIdx="0" presStyleCnt="4">
        <dgm:presLayoutVars>
          <dgm:chMax val="0"/>
          <dgm:chPref val="0"/>
        </dgm:presLayoutVars>
      </dgm:prSet>
      <dgm:spPr/>
    </dgm:pt>
    <dgm:pt modelId="{BB1F2807-CD5A-4326-9F44-212B8B2E707F}" type="pres">
      <dgm:prSet presAssocID="{A02C7100-522F-4B34-81A3-5AC55FDB7A78}" presName="txSpace" presStyleCnt="0"/>
      <dgm:spPr/>
    </dgm:pt>
    <dgm:pt modelId="{A7756407-8FF5-4860-98C9-533BB3F7B48F}" type="pres">
      <dgm:prSet presAssocID="{A02C7100-522F-4B34-81A3-5AC55FDB7A78}" presName="desTx" presStyleLbl="revTx" presStyleIdx="1" presStyleCnt="4">
        <dgm:presLayoutVars/>
      </dgm:prSet>
      <dgm:spPr/>
    </dgm:pt>
    <dgm:pt modelId="{1E44918B-A759-4E5A-86BF-34CCBC606571}" type="pres">
      <dgm:prSet presAssocID="{E313A004-C595-4AC8-8878-7FF2B623874A}" presName="sibTrans" presStyleCnt="0"/>
      <dgm:spPr/>
    </dgm:pt>
    <dgm:pt modelId="{11EC182F-25B8-4B5A-A85B-637F7953E355}" type="pres">
      <dgm:prSet presAssocID="{4AFC9E36-EE3D-453C-93D0-C39CF010E502}" presName="compNode" presStyleCnt="0"/>
      <dgm:spPr/>
    </dgm:pt>
    <dgm:pt modelId="{AB5DE8D3-3083-4CB5-9137-9FBAD8F85E77}" type="pres">
      <dgm:prSet presAssocID="{4AFC9E36-EE3D-453C-93D0-C39CF010E50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54EA8A1-A216-4F73-A942-46DB53D3E9C4}" type="pres">
      <dgm:prSet presAssocID="{4AFC9E36-EE3D-453C-93D0-C39CF010E502}" presName="iconSpace" presStyleCnt="0"/>
      <dgm:spPr/>
    </dgm:pt>
    <dgm:pt modelId="{1AA8D3D8-EE1C-44AB-A067-9F9B5841F4CD}" type="pres">
      <dgm:prSet presAssocID="{4AFC9E36-EE3D-453C-93D0-C39CF010E502}" presName="parTx" presStyleLbl="revTx" presStyleIdx="2" presStyleCnt="4">
        <dgm:presLayoutVars>
          <dgm:chMax val="0"/>
          <dgm:chPref val="0"/>
        </dgm:presLayoutVars>
      </dgm:prSet>
      <dgm:spPr/>
    </dgm:pt>
    <dgm:pt modelId="{D82D75CE-247B-4A51-9BF3-D8BA232E27BF}" type="pres">
      <dgm:prSet presAssocID="{4AFC9E36-EE3D-453C-93D0-C39CF010E502}" presName="txSpace" presStyleCnt="0"/>
      <dgm:spPr/>
    </dgm:pt>
    <dgm:pt modelId="{C8D77F2D-4D88-4B4B-A854-2D0B28A0EAAD}" type="pres">
      <dgm:prSet presAssocID="{4AFC9E36-EE3D-453C-93D0-C39CF010E502}" presName="desTx" presStyleLbl="revTx" presStyleIdx="3" presStyleCnt="4">
        <dgm:presLayoutVars/>
      </dgm:prSet>
      <dgm:spPr/>
    </dgm:pt>
  </dgm:ptLst>
  <dgm:cxnLst>
    <dgm:cxn modelId="{6429FE02-26DC-42CE-9608-5B208EDCB6D9}" type="presOf" srcId="{C92DAC44-0A14-4933-A75A-C55240639F95}" destId="{C8D77F2D-4D88-4B4B-A854-2D0B28A0EAAD}" srcOrd="0" destOrd="2" presId="urn:microsoft.com/office/officeart/2018/2/layout/IconLabelDescriptionList"/>
    <dgm:cxn modelId="{28648A64-8A04-4DCE-9942-631E40FE4C19}" srcId="{A02C7100-522F-4B34-81A3-5AC55FDB7A78}" destId="{9438F563-8444-4364-9BAF-A4FED57F9D04}" srcOrd="1" destOrd="0" parTransId="{D2A61A8E-F218-4D80-AD73-B4A771506FE2}" sibTransId="{4745B4B1-1C4D-430D-84B0-C75C1E8C05E5}"/>
    <dgm:cxn modelId="{16CBA567-0382-49DF-9FDF-048F11FD9E16}" srcId="{4AFC9E36-EE3D-453C-93D0-C39CF010E502}" destId="{C92DAC44-0A14-4933-A75A-C55240639F95}" srcOrd="2" destOrd="0" parTransId="{68D5C3F0-4BE4-406E-B15C-BA4C128A2A33}" sibTransId="{0103BEE7-845B-4A17-968B-454CBBC3FCFD}"/>
    <dgm:cxn modelId="{58852368-5FFC-47AF-8765-A68CB558A17D}" srcId="{A02C7100-522F-4B34-81A3-5AC55FDB7A78}" destId="{EE6B566F-1D7B-4D61-A9B8-96C30AE92496}" srcOrd="2" destOrd="0" parTransId="{A4857C83-96F7-4BA5-9805-84EEAAD466E8}" sibTransId="{E10567D6-E616-420C-82F9-CAA9B7F16905}"/>
    <dgm:cxn modelId="{4A50DE6E-C7D0-491D-9334-11835A112363}" srcId="{A02C7100-522F-4B34-81A3-5AC55FDB7A78}" destId="{89EE43FD-B15B-46B2-8C8D-1FAB2AC66D22}" srcOrd="0" destOrd="0" parTransId="{E9CB98D8-0650-4BE5-9E5D-0DFE952C6C9A}" sibTransId="{A117B258-893C-41A4-9302-9FDB5B2CE34F}"/>
    <dgm:cxn modelId="{A594C478-3FDD-4D2D-9E34-A08946680B19}" type="presOf" srcId="{3CB874F3-0CE0-463F-BF92-4B4D80118CA8}" destId="{C8D77F2D-4D88-4B4B-A854-2D0B28A0EAAD}" srcOrd="0" destOrd="1" presId="urn:microsoft.com/office/officeart/2018/2/layout/IconLabelDescriptionList"/>
    <dgm:cxn modelId="{1304A57B-6930-415A-B1FA-356A52143E42}" type="presOf" srcId="{F8F9D357-45E9-46D6-9B84-86F4DE96E9A4}" destId="{56C52561-4AA6-4A74-8E9C-C8AB5053F5C4}" srcOrd="0" destOrd="0" presId="urn:microsoft.com/office/officeart/2018/2/layout/IconLabelDescriptionList"/>
    <dgm:cxn modelId="{A521A092-63CD-4653-A9B8-16D3CEEA32D6}" type="presOf" srcId="{9438F563-8444-4364-9BAF-A4FED57F9D04}" destId="{A7756407-8FF5-4860-98C9-533BB3F7B48F}" srcOrd="0" destOrd="1" presId="urn:microsoft.com/office/officeart/2018/2/layout/IconLabelDescriptionList"/>
    <dgm:cxn modelId="{A081299A-B4A2-496E-BCDC-4AD8762799C3}" srcId="{4AFC9E36-EE3D-453C-93D0-C39CF010E502}" destId="{3CB874F3-0CE0-463F-BF92-4B4D80118CA8}" srcOrd="1" destOrd="0" parTransId="{04169AB3-5BDC-4229-9B09-6FBD2F583876}" sibTransId="{B37840A6-13BB-465B-82D7-A7A9DCC585D2}"/>
    <dgm:cxn modelId="{650E56B1-8F71-4194-AED8-1691699FA393}" type="presOf" srcId="{4AFC9E36-EE3D-453C-93D0-C39CF010E502}" destId="{1AA8D3D8-EE1C-44AB-A067-9F9B5841F4CD}" srcOrd="0" destOrd="0" presId="urn:microsoft.com/office/officeart/2018/2/layout/IconLabelDescriptionList"/>
    <dgm:cxn modelId="{D96C3EC1-585E-401E-81B0-6ABE24FCAFBD}" type="presOf" srcId="{EE6B566F-1D7B-4D61-A9B8-96C30AE92496}" destId="{A7756407-8FF5-4860-98C9-533BB3F7B48F}" srcOrd="0" destOrd="2" presId="urn:microsoft.com/office/officeart/2018/2/layout/IconLabelDescriptionList"/>
    <dgm:cxn modelId="{A84B51C7-7CFB-440C-8425-73A843F46446}" type="presOf" srcId="{0D506CC6-94FB-4946-A20C-21E1BA03C782}" destId="{C8D77F2D-4D88-4B4B-A854-2D0B28A0EAAD}" srcOrd="0" destOrd="0" presId="urn:microsoft.com/office/officeart/2018/2/layout/IconLabelDescriptionList"/>
    <dgm:cxn modelId="{B7D07FC7-BC67-4772-8181-30DCABA00675}" type="presOf" srcId="{A02C7100-522F-4B34-81A3-5AC55FDB7A78}" destId="{92A1E7F7-D227-4AA3-95B6-4CEE76BBE59E}" srcOrd="0" destOrd="0" presId="urn:microsoft.com/office/officeart/2018/2/layout/IconLabelDescriptionList"/>
    <dgm:cxn modelId="{D1914BDE-42F7-426B-9E5E-7E720D9BB48B}" srcId="{F8F9D357-45E9-46D6-9B84-86F4DE96E9A4}" destId="{A02C7100-522F-4B34-81A3-5AC55FDB7A78}" srcOrd="0" destOrd="0" parTransId="{91E3F776-9DFF-4D76-8935-020726D448B4}" sibTransId="{E313A004-C595-4AC8-8878-7FF2B623874A}"/>
    <dgm:cxn modelId="{20EA3DE8-BFC4-4E8E-A294-0CB4B2D798CD}" srcId="{4AFC9E36-EE3D-453C-93D0-C39CF010E502}" destId="{0D506CC6-94FB-4946-A20C-21E1BA03C782}" srcOrd="0" destOrd="0" parTransId="{26C37B8D-4283-4F72-93E7-81675813EA2D}" sibTransId="{DF0B7115-B0D0-4052-B312-7057E8941650}"/>
    <dgm:cxn modelId="{1E4967E8-E772-4053-9A89-572E27F5C98F}" srcId="{F8F9D357-45E9-46D6-9B84-86F4DE96E9A4}" destId="{4AFC9E36-EE3D-453C-93D0-C39CF010E502}" srcOrd="1" destOrd="0" parTransId="{F146E36D-58FA-4100-9E46-143FFF637565}" sibTransId="{E29618EE-97FF-4247-942B-8A1D33E5B6C5}"/>
    <dgm:cxn modelId="{ABB611EE-8265-4F45-8960-919D9D608E4A}" type="presOf" srcId="{89EE43FD-B15B-46B2-8C8D-1FAB2AC66D22}" destId="{A7756407-8FF5-4860-98C9-533BB3F7B48F}" srcOrd="0" destOrd="0" presId="urn:microsoft.com/office/officeart/2018/2/layout/IconLabelDescriptionList"/>
    <dgm:cxn modelId="{78CDD7E5-0F9E-4AFB-A43E-B72F4F176FEF}" type="presParOf" srcId="{56C52561-4AA6-4A74-8E9C-C8AB5053F5C4}" destId="{30D8E32B-7643-45C6-AFE8-BFC5D0AFA806}" srcOrd="0" destOrd="0" presId="urn:microsoft.com/office/officeart/2018/2/layout/IconLabelDescriptionList"/>
    <dgm:cxn modelId="{731AA6EE-61C5-41DD-8EBE-9B3AC8EB9816}" type="presParOf" srcId="{30D8E32B-7643-45C6-AFE8-BFC5D0AFA806}" destId="{D4931DD6-9F79-46E1-B991-9ECEC73B7706}" srcOrd="0" destOrd="0" presId="urn:microsoft.com/office/officeart/2018/2/layout/IconLabelDescriptionList"/>
    <dgm:cxn modelId="{1C881917-3EC6-445C-BCF6-7B1F4CAD94FE}" type="presParOf" srcId="{30D8E32B-7643-45C6-AFE8-BFC5D0AFA806}" destId="{BC8B743B-71E2-453D-AED7-5F7DB482B547}" srcOrd="1" destOrd="0" presId="urn:microsoft.com/office/officeart/2018/2/layout/IconLabelDescriptionList"/>
    <dgm:cxn modelId="{698F7CC3-7ADD-4FE0-B8E9-61F73C9D47C4}" type="presParOf" srcId="{30D8E32B-7643-45C6-AFE8-BFC5D0AFA806}" destId="{92A1E7F7-D227-4AA3-95B6-4CEE76BBE59E}" srcOrd="2" destOrd="0" presId="urn:microsoft.com/office/officeart/2018/2/layout/IconLabelDescriptionList"/>
    <dgm:cxn modelId="{288BD11D-7F17-423C-AE18-C90B83AB4E96}" type="presParOf" srcId="{30D8E32B-7643-45C6-AFE8-BFC5D0AFA806}" destId="{BB1F2807-CD5A-4326-9F44-212B8B2E707F}" srcOrd="3" destOrd="0" presId="urn:microsoft.com/office/officeart/2018/2/layout/IconLabelDescriptionList"/>
    <dgm:cxn modelId="{E2BD50D4-8E73-4A98-820F-71C4AD13D6E1}" type="presParOf" srcId="{30D8E32B-7643-45C6-AFE8-BFC5D0AFA806}" destId="{A7756407-8FF5-4860-98C9-533BB3F7B48F}" srcOrd="4" destOrd="0" presId="urn:microsoft.com/office/officeart/2018/2/layout/IconLabelDescriptionList"/>
    <dgm:cxn modelId="{5BA46886-DE27-4F9F-9FE1-904AC6CD161D}" type="presParOf" srcId="{56C52561-4AA6-4A74-8E9C-C8AB5053F5C4}" destId="{1E44918B-A759-4E5A-86BF-34CCBC606571}" srcOrd="1" destOrd="0" presId="urn:microsoft.com/office/officeart/2018/2/layout/IconLabelDescriptionList"/>
    <dgm:cxn modelId="{2FD82F92-F0D7-4038-85A4-A4FAEC399211}" type="presParOf" srcId="{56C52561-4AA6-4A74-8E9C-C8AB5053F5C4}" destId="{11EC182F-25B8-4B5A-A85B-637F7953E355}" srcOrd="2" destOrd="0" presId="urn:microsoft.com/office/officeart/2018/2/layout/IconLabelDescriptionList"/>
    <dgm:cxn modelId="{74CE7B09-624A-482A-BBA8-1FC8332BF3C1}" type="presParOf" srcId="{11EC182F-25B8-4B5A-A85B-637F7953E355}" destId="{AB5DE8D3-3083-4CB5-9137-9FBAD8F85E77}" srcOrd="0" destOrd="0" presId="urn:microsoft.com/office/officeart/2018/2/layout/IconLabelDescriptionList"/>
    <dgm:cxn modelId="{55370A54-8096-4050-A884-FC6AAF1456E6}" type="presParOf" srcId="{11EC182F-25B8-4B5A-A85B-637F7953E355}" destId="{154EA8A1-A216-4F73-A942-46DB53D3E9C4}" srcOrd="1" destOrd="0" presId="urn:microsoft.com/office/officeart/2018/2/layout/IconLabelDescriptionList"/>
    <dgm:cxn modelId="{25D5B64E-414E-46F0-9353-144EED42CA39}" type="presParOf" srcId="{11EC182F-25B8-4B5A-A85B-637F7953E355}" destId="{1AA8D3D8-EE1C-44AB-A067-9F9B5841F4CD}" srcOrd="2" destOrd="0" presId="urn:microsoft.com/office/officeart/2018/2/layout/IconLabelDescriptionList"/>
    <dgm:cxn modelId="{5A62045D-8FC5-48E2-B291-93453E49CFDD}" type="presParOf" srcId="{11EC182F-25B8-4B5A-A85B-637F7953E355}" destId="{D82D75CE-247B-4A51-9BF3-D8BA232E27BF}" srcOrd="3" destOrd="0" presId="urn:microsoft.com/office/officeart/2018/2/layout/IconLabelDescriptionList"/>
    <dgm:cxn modelId="{EB0205DD-9103-4B32-96F8-F863FC254793}" type="presParOf" srcId="{11EC182F-25B8-4B5A-A85B-637F7953E355}" destId="{C8D77F2D-4D88-4B4B-A854-2D0B28A0EAA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A184C-CBBA-441F-8CA4-C91A52EB264A}">
      <dsp:nvSpPr>
        <dsp:cNvPr id="0" name=""/>
        <dsp:cNvSpPr/>
      </dsp:nvSpPr>
      <dsp:spPr>
        <a:xfrm>
          <a:off x="3462" y="408435"/>
          <a:ext cx="2747281" cy="384619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4189" tIns="330200" rIns="214189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Implement TLS encryption to serve app ov</a:t>
          </a:r>
          <a:r>
            <a:rPr lang="en-US" sz="2000" i="0" kern="1200">
              <a:latin typeface="Aptos Display" panose="02110004020202020204"/>
            </a:rPr>
            <a:t>er HTTPS</a:t>
          </a:r>
          <a:endParaRPr lang="en-US" sz="2000" i="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Cyber feedback</a:t>
          </a:r>
        </a:p>
      </dsp:txBody>
      <dsp:txXfrm>
        <a:off x="3462" y="1869989"/>
        <a:ext cx="2747281" cy="2307716"/>
      </dsp:txXfrm>
    </dsp:sp>
    <dsp:sp modelId="{FFF31957-AF20-49A0-A073-9FE69DF86036}">
      <dsp:nvSpPr>
        <dsp:cNvPr id="0" name=""/>
        <dsp:cNvSpPr/>
      </dsp:nvSpPr>
      <dsp:spPr>
        <a:xfrm>
          <a:off x="800174" y="793055"/>
          <a:ext cx="1153858" cy="115385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9959" tIns="12700" rIns="899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69153" y="962034"/>
        <a:ext cx="815900" cy="815900"/>
      </dsp:txXfrm>
    </dsp:sp>
    <dsp:sp modelId="{37CD7406-8CCF-49AA-9967-F0891402971E}">
      <dsp:nvSpPr>
        <dsp:cNvPr id="0" name=""/>
        <dsp:cNvSpPr/>
      </dsp:nvSpPr>
      <dsp:spPr>
        <a:xfrm>
          <a:off x="3462" y="4254557"/>
          <a:ext cx="2747281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2D1F03-3E4F-4F1D-811D-E82C3EBDEFED}">
      <dsp:nvSpPr>
        <dsp:cNvPr id="0" name=""/>
        <dsp:cNvSpPr/>
      </dsp:nvSpPr>
      <dsp:spPr>
        <a:xfrm>
          <a:off x="3025472" y="408435"/>
          <a:ext cx="2747281" cy="3846193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4189" tIns="330200" rIns="214189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LLM Integration</a:t>
          </a:r>
          <a:endParaRPr lang="en-US" sz="20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Use LLM to create a weekly summary for stakeholders</a:t>
          </a:r>
          <a:endParaRPr lang="en-US" sz="1600" kern="1200"/>
        </a:p>
      </dsp:txBody>
      <dsp:txXfrm>
        <a:off x="3025472" y="1869989"/>
        <a:ext cx="2747281" cy="2307716"/>
      </dsp:txXfrm>
    </dsp:sp>
    <dsp:sp modelId="{D6F19FCE-39EF-47A5-97E1-89A85906A293}">
      <dsp:nvSpPr>
        <dsp:cNvPr id="0" name=""/>
        <dsp:cNvSpPr/>
      </dsp:nvSpPr>
      <dsp:spPr>
        <a:xfrm>
          <a:off x="3822183" y="793055"/>
          <a:ext cx="1153858" cy="1153858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9959" tIns="12700" rIns="899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991162" y="962034"/>
        <a:ext cx="815900" cy="815900"/>
      </dsp:txXfrm>
    </dsp:sp>
    <dsp:sp modelId="{D3EFA9D7-2C3E-4D1E-AAB2-FE39567E8738}">
      <dsp:nvSpPr>
        <dsp:cNvPr id="0" name=""/>
        <dsp:cNvSpPr/>
      </dsp:nvSpPr>
      <dsp:spPr>
        <a:xfrm>
          <a:off x="3025472" y="4254557"/>
          <a:ext cx="2747281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09F9BC-4841-4E75-A9FC-4022238C85EA}">
      <dsp:nvSpPr>
        <dsp:cNvPr id="0" name=""/>
        <dsp:cNvSpPr/>
      </dsp:nvSpPr>
      <dsp:spPr>
        <a:xfrm>
          <a:off x="6047481" y="408435"/>
          <a:ext cx="2747281" cy="3846193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4189" tIns="330200" rIns="214189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UI/UX improvements</a:t>
          </a:r>
          <a:endParaRPr lang="en-US" sz="20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Sponsor wants a tabbed dashboard view</a:t>
          </a:r>
        </a:p>
      </dsp:txBody>
      <dsp:txXfrm>
        <a:off x="6047481" y="1869989"/>
        <a:ext cx="2747281" cy="2307716"/>
      </dsp:txXfrm>
    </dsp:sp>
    <dsp:sp modelId="{4768F571-4958-4A52-9E9E-0CCD516487BE}">
      <dsp:nvSpPr>
        <dsp:cNvPr id="0" name=""/>
        <dsp:cNvSpPr/>
      </dsp:nvSpPr>
      <dsp:spPr>
        <a:xfrm>
          <a:off x="6844193" y="793055"/>
          <a:ext cx="1153858" cy="1153858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9959" tIns="12700" rIns="899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013172" y="962034"/>
        <a:ext cx="815900" cy="815900"/>
      </dsp:txXfrm>
    </dsp:sp>
    <dsp:sp modelId="{1032D107-E1D2-43DA-B16D-E10C96988AF1}">
      <dsp:nvSpPr>
        <dsp:cNvPr id="0" name=""/>
        <dsp:cNvSpPr/>
      </dsp:nvSpPr>
      <dsp:spPr>
        <a:xfrm>
          <a:off x="6047481" y="4254557"/>
          <a:ext cx="2747281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C3BAFF-9003-440D-8498-5D55BB82FED3}">
      <dsp:nvSpPr>
        <dsp:cNvPr id="0" name=""/>
        <dsp:cNvSpPr/>
      </dsp:nvSpPr>
      <dsp:spPr>
        <a:xfrm>
          <a:off x="9069490" y="408435"/>
          <a:ext cx="2747281" cy="3846193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4189" tIns="330200" rIns="21418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Document final OS workflow and provide a handoff guide</a:t>
          </a:r>
          <a:endParaRPr lang="en-US" sz="20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Sponsor stressed seamless transition to next group</a:t>
          </a:r>
        </a:p>
      </dsp:txBody>
      <dsp:txXfrm>
        <a:off x="9069490" y="1869989"/>
        <a:ext cx="2747281" cy="2307716"/>
      </dsp:txXfrm>
    </dsp:sp>
    <dsp:sp modelId="{20896555-0822-46D7-B7AF-F2DFB26455D8}">
      <dsp:nvSpPr>
        <dsp:cNvPr id="0" name=""/>
        <dsp:cNvSpPr/>
      </dsp:nvSpPr>
      <dsp:spPr>
        <a:xfrm>
          <a:off x="9866202" y="793055"/>
          <a:ext cx="1153858" cy="1153858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9959" tIns="12700" rIns="899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10035181" y="962034"/>
        <a:ext cx="815900" cy="815900"/>
      </dsp:txXfrm>
    </dsp:sp>
    <dsp:sp modelId="{0EEFE15B-D76E-49C0-91D0-3C0B44AD685F}">
      <dsp:nvSpPr>
        <dsp:cNvPr id="0" name=""/>
        <dsp:cNvSpPr/>
      </dsp:nvSpPr>
      <dsp:spPr>
        <a:xfrm>
          <a:off x="9069490" y="4254557"/>
          <a:ext cx="2747281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1DD6-9F79-46E1-B991-9ECEC73B7706}">
      <dsp:nvSpPr>
        <dsp:cNvPr id="0" name=""/>
        <dsp:cNvSpPr/>
      </dsp:nvSpPr>
      <dsp:spPr>
        <a:xfrm>
          <a:off x="559800" y="35898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1E7F7-D227-4AA3-95B6-4CEE76BBE59E}">
      <dsp:nvSpPr>
        <dsp:cNvPr id="0" name=""/>
        <dsp:cNvSpPr/>
      </dsp:nvSpPr>
      <dsp:spPr>
        <a:xfrm>
          <a:off x="559800" y="20272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>
              <a:latin typeface="Aptos Display" panose="02110004020202020204"/>
            </a:rPr>
            <a:t>Production Encryption</a:t>
          </a:r>
          <a:endParaRPr lang="en-US" sz="3500" kern="1200"/>
        </a:p>
      </dsp:txBody>
      <dsp:txXfrm>
        <a:off x="559800" y="2027221"/>
        <a:ext cx="4320000" cy="648000"/>
      </dsp:txXfrm>
    </dsp:sp>
    <dsp:sp modelId="{A7756407-8FF5-4860-98C9-533BB3F7B48F}">
      <dsp:nvSpPr>
        <dsp:cNvPr id="0" name=""/>
        <dsp:cNvSpPr/>
      </dsp:nvSpPr>
      <dsp:spPr>
        <a:xfrm>
          <a:off x="559800" y="2747888"/>
          <a:ext cx="4320000" cy="124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110004020202020204"/>
            </a:rPr>
            <a:t>Only allow traffic over HTTPS port 443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110004020202020204"/>
            </a:rPr>
            <a:t>Use Nginx reverse proxy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110004020202020204"/>
            </a:rPr>
            <a:t>Avoid cross-site scripting via secure cookies</a:t>
          </a:r>
          <a:endParaRPr lang="en-US" sz="1700" kern="1200"/>
        </a:p>
      </dsp:txBody>
      <dsp:txXfrm>
        <a:off x="559800" y="2747888"/>
        <a:ext cx="4320000" cy="1244462"/>
      </dsp:txXfrm>
    </dsp:sp>
    <dsp:sp modelId="{AB5DE8D3-3083-4CB5-9137-9FBAD8F85E77}">
      <dsp:nvSpPr>
        <dsp:cNvPr id="0" name=""/>
        <dsp:cNvSpPr/>
      </dsp:nvSpPr>
      <dsp:spPr>
        <a:xfrm>
          <a:off x="5635800" y="35898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8D3D8-EE1C-44AB-A067-9F9B5841F4CD}">
      <dsp:nvSpPr>
        <dsp:cNvPr id="0" name=""/>
        <dsp:cNvSpPr/>
      </dsp:nvSpPr>
      <dsp:spPr>
        <a:xfrm>
          <a:off x="5635800" y="20272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VM security</a:t>
          </a:r>
        </a:p>
      </dsp:txBody>
      <dsp:txXfrm>
        <a:off x="5635800" y="2027221"/>
        <a:ext cx="4320000" cy="648000"/>
      </dsp:txXfrm>
    </dsp:sp>
    <dsp:sp modelId="{C8D77F2D-4D88-4B4B-A854-2D0B28A0EAAD}">
      <dsp:nvSpPr>
        <dsp:cNvPr id="0" name=""/>
        <dsp:cNvSpPr/>
      </dsp:nvSpPr>
      <dsp:spPr>
        <a:xfrm>
          <a:off x="5635800" y="2747888"/>
          <a:ext cx="4320000" cy="124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SSH access</a:t>
          </a:r>
          <a:r>
            <a:rPr lang="en-US" sz="1700" kern="1200">
              <a:latin typeface="Aptos Display" panose="02110004020202020204"/>
            </a:rPr>
            <a:t> limited to team member IP / keys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Inbound + outbound firewall traffic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110004020202020204"/>
            </a:rPr>
            <a:t>Avoid running Docker as root to prevent privilege escalation</a:t>
          </a:r>
          <a:endParaRPr lang="en-US" sz="1700" kern="1200"/>
        </a:p>
      </dsp:txBody>
      <dsp:txXfrm>
        <a:off x="5635800" y="2747888"/>
        <a:ext cx="4320000" cy="1244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AAE4-A453-4892-A108-73E4F334787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7A377-AF79-477F-B409-EECBF092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8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56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72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9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0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4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21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9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66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86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53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8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30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6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7303-9360-C71E-AD24-16643341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5FE5B-FE1A-E947-C427-B766A1B07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AE059-CC0B-C9B8-80FE-720A67D5B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F750E-4C14-B1CA-2209-94320CD6E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20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1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53B8-2C46-4002-0465-0A5B8A9F0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AEBB8-A43C-98F5-9C95-E70BB4457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F9998-0C9B-05A4-9733-FAC5383D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98EF-2E66-1A18-4C00-2A3BB891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875A7-DFC9-635F-F17A-3844CC33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8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5CC5-235E-992C-7D53-839BA13F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9341-417A-E30E-6066-61E2DF369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A504-358B-5AF4-B253-EAA437A8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89B94-CE28-B284-065D-E0AC8F6C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C6B1-3C23-C12C-4403-63AAD0BB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4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2A5E-8C11-4EB0-6935-D7F36BD6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00BA0-3767-191F-EE61-131D1E661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2F94-271B-4353-3E75-CAA32C59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CB80-6105-CEFD-A3AE-F533B2FF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72910-28A1-61E1-926C-898DAD9D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9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3BF3-EAA1-E2F3-5D5C-7AFD2AAE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B935-FEA0-92F3-ADEC-CFAD70F84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9E2CA-A6A7-CA83-C6A3-8DED7B937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FFE39-3AA4-852F-6E28-071C37B9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90126-D816-86BE-1167-3954367F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6394E-DE08-DF59-30DE-65EBD6D2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9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9715-49F8-24E5-59ED-90B62AB3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73518-5B0E-5F71-7147-2FF4E8B87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F8459-6B30-68E7-202C-329839697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2CC23-07CD-ACB7-33BE-502B94B63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E7864-6EA0-559C-6155-13B85AE02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1C1EC-13CE-658D-64C1-1E529693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42D7F-90BA-9544-BEF3-18D78C05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5B030-74C0-B8D0-D071-41A97A7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4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CC83-0E71-C963-3359-36C1A6D3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CC81-E7CA-9AF4-0B01-B5CDDBB0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1AA3E-0D93-70F8-1F64-308F596F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2A9D1-5F14-9076-9E32-86C75AE8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3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EFF90-493C-88A0-0196-26A67EE4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D8A81-A986-004C-B129-2C59E217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CC197-F90F-2F40-3CAC-C897377C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B66B-9DE4-92F0-AFD2-9CD06EB1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CB60-387A-00F9-E75C-6C3DDCE1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08BCC-FFFB-30CC-6E72-13AF2BF51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C947A-226B-C998-079A-41D7715C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407E5-27E8-C144-C924-F888083A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7439-5E6B-687A-4334-0DC8AC1F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6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99B9-4882-A26A-C97A-CEA11081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4EC69-AC00-2822-709A-64D3DF36B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8645B-472D-4674-755B-5E0A8F00A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1172B-1629-266E-AC56-BAF8EE5C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DC5AF-79A5-A6FE-8703-205296F5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31996-C358-9BD4-1F49-679588A9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1AF3-A509-3DA4-59A9-2B339BDB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5B1EC-B09A-69C0-479F-650EDF3F8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FE1B-2C2B-E528-9A00-559D93CC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1E0F-E55E-F5AE-E7DE-4BEDB433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E7022-C84F-2048-56FA-09073FB6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FC025-1038-4C0E-AD04-D917C344A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40B21-43FD-6C8F-8290-38B2E75D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8315C-AF98-6C49-7E32-F7CD4A66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E4A7F-735D-43AA-7DC1-E485D238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94E6E-CD43-831F-AD6C-68DA35B4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0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32C8C-C886-0642-D3DF-9C0C64B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765AE-B8BE-8839-F954-3E813BF75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4D0F-7CBB-D38F-3489-8CC324BA8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4BF30-E9C5-46A7-B1AA-282F094717C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EBEC8-3698-31AF-3AF9-7390AFAD0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8E63-DC02-2781-76BC-0BF92945C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lebErickson21/CS495-Project-Page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cs-495-project-page.vercel.app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hyperlink" Target="https://github.com/doncha-poj/Strata-OS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strata-capital-os.com/log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rata-capital-os.com/log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rata-capital-os.com/logi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072245-898C-45C4-C539-C63D6FAF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 b="1">
                <a:solidFill>
                  <a:schemeClr val="tx2"/>
                </a:solidFill>
              </a:rPr>
              <a:t>Decision Support Sprint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541F9-A84F-3519-1895-6E216EA9D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solidFill>
                  <a:schemeClr val="tx2"/>
                </a:solidFill>
              </a:rPr>
              <a:t>CS 495</a:t>
            </a:r>
          </a:p>
          <a:p>
            <a:r>
              <a:rPr lang="en-US" sz="2000">
                <a:solidFill>
                  <a:schemeClr val="tx2"/>
                </a:solidFill>
              </a:rPr>
              <a:t>Caleb Erickson, Brett Waldvogel, Donald </a:t>
            </a:r>
            <a:r>
              <a:rPr lang="en-US" sz="2000" err="1">
                <a:solidFill>
                  <a:schemeClr val="tx2"/>
                </a:solidFill>
              </a:rPr>
              <a:t>Chanthirath</a:t>
            </a:r>
            <a:r>
              <a:rPr lang="en-US" sz="2000">
                <a:solidFill>
                  <a:schemeClr val="tx2"/>
                </a:solidFill>
              </a:rPr>
              <a:t>, Josh Keane, Daniel Igbokwe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055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9F56A-7705-A500-19BD-F60FB55D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51732"/>
            <a:ext cx="10506456" cy="899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/>
              <a:t>Decision Support Team</a:t>
            </a:r>
            <a:endParaRPr lang="en-US" sz="5200" b="1" kern="1200">
              <a:latin typeface="+mj-lt"/>
            </a:endParaRPr>
          </a:p>
        </p:txBody>
      </p:sp>
      <p:pic>
        <p:nvPicPr>
          <p:cNvPr id="4" name="Content Placeholder 3" descr="A person in a suit&#10;&#10;AI-generated content may be incorrect.">
            <a:extLst>
              <a:ext uri="{FF2B5EF4-FFF2-40B4-BE49-F238E27FC236}">
                <a16:creationId xmlns:a16="http://schemas.microsoft.com/office/drawing/2014/main" id="{D795F7E6-984A-086C-3D79-54ED91306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5" b="6617"/>
          <a:stretch>
            <a:fillRect/>
          </a:stretch>
        </p:blipFill>
        <p:spPr>
          <a:xfrm>
            <a:off x="184558" y="187900"/>
            <a:ext cx="2255462" cy="3155238"/>
          </a:xfrm>
          <a:prstGeom prst="rect">
            <a:avLst/>
          </a:prstGeom>
        </p:spPr>
      </p:pic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2F0E6905-81F0-82C7-0424-55DD5F8A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09" r="11007" b="-1"/>
          <a:stretch>
            <a:fillRect/>
          </a:stretch>
        </p:blipFill>
        <p:spPr>
          <a:xfrm>
            <a:off x="2575696" y="187900"/>
            <a:ext cx="2255462" cy="3155238"/>
          </a:xfrm>
          <a:prstGeom prst="rect">
            <a:avLst/>
          </a:prstGeom>
        </p:spPr>
      </p:pic>
      <p:pic>
        <p:nvPicPr>
          <p:cNvPr id="7" name="Picture 6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E8CB8E46-F498-4B88-1C5B-0367A91A7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9" r="11007" b="-1"/>
          <a:stretch>
            <a:fillRect/>
          </a:stretch>
        </p:blipFill>
        <p:spPr>
          <a:xfrm>
            <a:off x="4966833" y="187900"/>
            <a:ext cx="2255462" cy="3155238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C196DC1-CA11-06AC-931C-CFB818F7DD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98" r="21599" b="2"/>
          <a:stretch>
            <a:fillRect/>
          </a:stretch>
        </p:blipFill>
        <p:spPr>
          <a:xfrm>
            <a:off x="7357971" y="187900"/>
            <a:ext cx="2255462" cy="3155238"/>
          </a:xfrm>
          <a:prstGeom prst="rect">
            <a:avLst/>
          </a:prstGeom>
        </p:spPr>
      </p:pic>
      <p:pic>
        <p:nvPicPr>
          <p:cNvPr id="8" name="Picture 7" descr="A person with long hair&#10;&#10;AI-generated content may be incorrect.">
            <a:extLst>
              <a:ext uri="{FF2B5EF4-FFF2-40B4-BE49-F238E27FC236}">
                <a16:creationId xmlns:a16="http://schemas.microsoft.com/office/drawing/2014/main" id="{B08E6FDF-9E70-07FA-E126-5A379B63A7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758" r="12758" b="-1"/>
          <a:stretch>
            <a:fillRect/>
          </a:stretch>
        </p:blipFill>
        <p:spPr>
          <a:xfrm>
            <a:off x="9749109" y="187900"/>
            <a:ext cx="2255462" cy="3155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A8F37F-DE9E-B053-3A0E-6631CDBBF002}"/>
              </a:ext>
            </a:extLst>
          </p:cNvPr>
          <p:cNvSpPr txBox="1"/>
          <p:nvPr/>
        </p:nvSpPr>
        <p:spPr>
          <a:xfrm>
            <a:off x="2984386" y="3342603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Caleb Erickson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23205-6D47-BB9F-FE24-0A6987C7211A}"/>
              </a:ext>
            </a:extLst>
          </p:cNvPr>
          <p:cNvSpPr txBox="1"/>
          <p:nvPr/>
        </p:nvSpPr>
        <p:spPr>
          <a:xfrm>
            <a:off x="587951" y="3342603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Brett</a:t>
            </a:r>
          </a:p>
          <a:p>
            <a:pPr algn="ctr"/>
            <a:r>
              <a:rPr lang="en-US" sz="2000" b="1"/>
              <a:t>Waldvogel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4EEFB-D4F2-FACB-B44E-41D76F8ADDD3}"/>
              </a:ext>
            </a:extLst>
          </p:cNvPr>
          <p:cNvSpPr txBox="1"/>
          <p:nvPr/>
        </p:nvSpPr>
        <p:spPr>
          <a:xfrm>
            <a:off x="5248298" y="3342603"/>
            <a:ext cx="169746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Donald</a:t>
            </a:r>
          </a:p>
          <a:p>
            <a:pPr algn="ctr"/>
            <a:r>
              <a:rPr lang="en-US" sz="2000" b="1" err="1"/>
              <a:t>Chanthirath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78372-05CA-CDE3-2935-28416BB7194C}"/>
              </a:ext>
            </a:extLst>
          </p:cNvPr>
          <p:cNvSpPr txBox="1"/>
          <p:nvPr/>
        </p:nvSpPr>
        <p:spPr>
          <a:xfrm>
            <a:off x="7777255" y="3342602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Daniel</a:t>
            </a:r>
          </a:p>
          <a:p>
            <a:pPr algn="ctr"/>
            <a:r>
              <a:rPr lang="en-US" sz="2000" b="1">
                <a:solidFill>
                  <a:srgbClr val="000000"/>
                </a:solidFill>
              </a:rPr>
              <a:t>Igbokwe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8F74A5-B816-6B7A-79DE-60E93A0242D5}"/>
              </a:ext>
            </a:extLst>
          </p:cNvPr>
          <p:cNvSpPr txBox="1"/>
          <p:nvPr/>
        </p:nvSpPr>
        <p:spPr>
          <a:xfrm>
            <a:off x="10162646" y="3342602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Josh</a:t>
            </a:r>
            <a:endParaRPr lang="en-US"/>
          </a:p>
          <a:p>
            <a:pPr algn="ctr"/>
            <a:r>
              <a:rPr lang="en-US" sz="2000" b="1"/>
              <a:t>Keane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FFF31-0253-74F4-B9A1-5DF95AC92D60}"/>
              </a:ext>
            </a:extLst>
          </p:cNvPr>
          <p:cNvSpPr txBox="1"/>
          <p:nvPr/>
        </p:nvSpPr>
        <p:spPr>
          <a:xfrm>
            <a:off x="185615" y="5197231"/>
            <a:ext cx="1182077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>
                <a:solidFill>
                  <a:srgbClr val="000000"/>
                </a:solidFill>
                <a:latin typeface="Aptos Display"/>
              </a:rPr>
              <a:t>Project Page:</a:t>
            </a:r>
            <a:r>
              <a:rPr lang="en-US" i="1">
                <a:solidFill>
                  <a:srgbClr val="000000"/>
                </a:solidFill>
                <a:latin typeface="Aptos Display"/>
              </a:rPr>
              <a:t> 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https://cs-495-project-page.vercel.app/</a:t>
            </a:r>
            <a:endParaRPr lang="en-US" i="1">
              <a:solidFill>
                <a:srgbClr val="000000"/>
              </a:solidFill>
              <a:latin typeface="Aptos" panose="02110004020202020204"/>
            </a:endParaRPr>
          </a:p>
          <a:p>
            <a:pPr algn="ctr"/>
            <a:r>
              <a:rPr lang="en-US" b="1" i="1">
                <a:latin typeface="Aptos Display"/>
              </a:rPr>
              <a:t>Project </a:t>
            </a:r>
            <a:r>
              <a:rPr lang="en-US" b="1" i="1" err="1">
                <a:latin typeface="Aptos Display"/>
              </a:rPr>
              <a:t>Github</a:t>
            </a:r>
            <a:r>
              <a:rPr lang="en-US" b="1" i="1">
                <a:latin typeface="Aptos Display"/>
              </a:rPr>
              <a:t>:</a:t>
            </a:r>
            <a:r>
              <a:rPr lang="en-US" i="1">
                <a:latin typeface="Aptos Display"/>
              </a:rPr>
              <a:t> </a:t>
            </a:r>
            <a:r>
              <a:rPr lang="en-US">
                <a:ea typeface="+mn-lt"/>
                <a:cs typeface="+mn-lt"/>
                <a:hlinkClick r:id="rId8"/>
              </a:rPr>
              <a:t>https://github.com/CalebErickson21/CS495-Project-Page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b="1" i="1">
                <a:latin typeface="Aptos Display"/>
              </a:rPr>
              <a:t>Production Page:</a:t>
            </a:r>
            <a:r>
              <a:rPr lang="en-US" i="1">
                <a:latin typeface="Aptos Display"/>
              </a:rPr>
              <a:t> </a:t>
            </a:r>
            <a:r>
              <a:rPr lang="en-US">
                <a:latin typeface="Aptos Display"/>
              </a:rPr>
              <a:t> </a:t>
            </a:r>
            <a:r>
              <a:rPr lang="en-US">
                <a:hlinkClick r:id="rId9"/>
              </a:rPr>
              <a:t>https://strata-capital-os.com/login</a:t>
            </a:r>
            <a:endParaRPr lang="en-US"/>
          </a:p>
          <a:p>
            <a:pPr algn="ctr"/>
            <a:r>
              <a:rPr lang="en-US" b="1" i="1">
                <a:latin typeface="Aptos Display"/>
              </a:rPr>
              <a:t>Production </a:t>
            </a:r>
            <a:r>
              <a:rPr lang="en-US" b="1" i="1" err="1">
                <a:latin typeface="Aptos Display"/>
              </a:rPr>
              <a:t>Github</a:t>
            </a:r>
            <a:r>
              <a:rPr lang="en-US" b="1" i="1">
                <a:latin typeface="Aptos Display"/>
              </a:rPr>
              <a:t>:</a:t>
            </a:r>
            <a:r>
              <a:rPr lang="en-US" i="1">
                <a:latin typeface="Aptos Display"/>
              </a:rPr>
              <a:t> </a:t>
            </a:r>
            <a:r>
              <a:rPr lang="en-US">
                <a:hlinkClick r:id="rId10"/>
              </a:rPr>
              <a:t>https://github.com/doncha-poj/Strata-OS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0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3D334-6B27-1459-A1DB-ACE9DBE4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/>
              <a:t>Project Focus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33A8D-13EB-78E0-5C86-25BEBC7B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Data driven dashboard for Strata Capital</a:t>
            </a:r>
          </a:p>
          <a:p>
            <a:r>
              <a:rPr lang="en-US" sz="2200"/>
              <a:t>Turned fragmented, multi-formatted spreadsheets into unified source of truth</a:t>
            </a:r>
          </a:p>
          <a:p>
            <a:r>
              <a:rPr lang="en-US" sz="2200"/>
              <a:t>Create interactive visuals for</a:t>
            </a:r>
          </a:p>
          <a:p>
            <a:pPr lvl="1"/>
            <a:r>
              <a:rPr lang="en-US" sz="2200"/>
              <a:t>Cash flow</a:t>
            </a:r>
          </a:p>
          <a:p>
            <a:pPr lvl="1"/>
            <a:r>
              <a:rPr lang="en-US" sz="2200"/>
              <a:t>Project performance</a:t>
            </a:r>
          </a:p>
          <a:p>
            <a:pPr lvl="1"/>
            <a:r>
              <a:rPr lang="en-US" sz="2200"/>
              <a:t>Revenue forecasts</a:t>
            </a:r>
          </a:p>
          <a:p>
            <a:r>
              <a:rPr lang="en-US" sz="2200"/>
              <a:t>Deliver simple executive scoreboard to track business health</a:t>
            </a:r>
          </a:p>
          <a:p>
            <a:r>
              <a:rPr lang="en-US" sz="2200"/>
              <a:t>Integrate AI to ask questions about dashboard data in natural language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1C604C0-328E-38F7-F1CA-BB3BE17B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75" r="21297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86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80EA2F-81C2-475A-115E-FDF239B8B7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FF4AB-8584-6B77-48CD-472A0BEB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Prioritized Sprint 3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409AE6-BF31-CF71-13B8-1E1EB8163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846270"/>
              </p:ext>
            </p:extLst>
          </p:nvPr>
        </p:nvGraphicFramePr>
        <p:xfrm>
          <a:off x="191655" y="1825625"/>
          <a:ext cx="11820235" cy="4663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7920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07B8C-E702-54B4-FDCC-6410CCD1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26405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Sprint Achievements and Sponsor Feedback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5EE4-1AF7-BB09-8748-6AAF7C21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993280"/>
            <a:ext cx="10034831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>
                <a:solidFill>
                  <a:schemeClr val="tx2"/>
                </a:solidFill>
              </a:rPr>
              <a:t>Successfully embedded Claude Sonnet 4.6 to draw on data and communicate with stakeholders</a:t>
            </a:r>
            <a:endParaRPr lang="en-US"/>
          </a:p>
          <a:p>
            <a:pPr>
              <a:spcAft>
                <a:spcPts val="700"/>
              </a:spcAft>
            </a:pPr>
            <a:r>
              <a:rPr lang="en-US" sz="2400">
                <a:solidFill>
                  <a:schemeClr val="tx2"/>
                </a:solidFill>
              </a:rPr>
              <a:t>Organized app elements into tabs for faster navigation &amp; comprehension</a:t>
            </a:r>
          </a:p>
          <a:p>
            <a:pPr>
              <a:spcAft>
                <a:spcPts val="700"/>
              </a:spcAft>
            </a:pPr>
            <a:r>
              <a:rPr lang="en-US" sz="2400">
                <a:solidFill>
                  <a:schemeClr val="tx2"/>
                </a:solidFill>
              </a:rPr>
              <a:t>Implemented various security measures including https encryption</a:t>
            </a:r>
          </a:p>
          <a:p>
            <a:pPr>
              <a:spcAft>
                <a:spcPts val="700"/>
              </a:spcAft>
            </a:pPr>
            <a:r>
              <a:rPr lang="en-US" sz="2400">
                <a:solidFill>
                  <a:schemeClr val="tx2"/>
                </a:solidFill>
              </a:rPr>
              <a:t>Hosted under a domain named after the project</a:t>
            </a:r>
          </a:p>
          <a:p>
            <a:pPr>
              <a:spcAft>
                <a:spcPts val="700"/>
              </a:spcAft>
            </a:pPr>
            <a:r>
              <a:rPr lang="en-US" sz="2400">
                <a:solidFill>
                  <a:schemeClr val="tx2"/>
                </a:solidFill>
              </a:rPr>
              <a:t>Sponsor is pleased overall with look &amp; feel and satisfied with interactivity</a:t>
            </a:r>
          </a:p>
          <a:p>
            <a:pPr>
              <a:spcAft>
                <a:spcPts val="700"/>
              </a:spcAft>
            </a:pPr>
            <a:endParaRPr lang="en-US" sz="24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84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BC2E-3594-5176-99DB-B8B0B91A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Sprint Backlog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screenshot of a table&#10;&#10;AI-generated content may be incorrect.">
            <a:extLst>
              <a:ext uri="{FF2B5EF4-FFF2-40B4-BE49-F238E27FC236}">
                <a16:creationId xmlns:a16="http://schemas.microsoft.com/office/drawing/2014/main" id="{939F2EEB-10F3-061A-C71B-20A2AB3AB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5139" y="2945342"/>
            <a:ext cx="10478721" cy="1833775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508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C910-2251-74D8-5308-E3539654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Cyber Feedback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8521FB-FE8A-5D28-F4CB-9C793A753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7293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13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ABC8-C6DA-E68E-FD0E-D49E71F3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b="1"/>
              <a:t>Accessibility and Inclusive Design Features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EFF5B656-5AB0-75A3-9114-41EE29B72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77" r="9071" b="-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9AA26-CA86-89B6-B802-0D596FF0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39631"/>
            <a:ext cx="5444382" cy="40645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/>
              <a:t>Accessibility</a:t>
            </a:r>
          </a:p>
          <a:p>
            <a:pPr lvl="1"/>
            <a:r>
              <a:rPr lang="en-US" sz="2000">
                <a:ea typeface="+mn-lt"/>
                <a:cs typeface="+mn-lt"/>
              </a:rPr>
              <a:t>ARIA labels for improved screen reader support 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Screen reader-friendly labels on charts and data visualizations</a:t>
            </a:r>
            <a:endParaRPr lang="en-US" sz="2000"/>
          </a:p>
          <a:p>
            <a:r>
              <a:rPr lang="en-US" sz="2200" b="1"/>
              <a:t>Inclusive Design</a:t>
            </a:r>
          </a:p>
          <a:p>
            <a:pPr lvl="1"/>
            <a:r>
              <a:rPr lang="en-US" sz="2000">
                <a:ea typeface="+mn-lt"/>
                <a:cs typeface="+mn-lt"/>
              </a:rPr>
              <a:t>Tabbed interface for simplified navigation across datasets 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Chatbot for guided assistance and natural-language navigation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9256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5F2AD-03A1-BE5B-72E3-CA58FDB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Lessons Learned</a:t>
            </a:r>
          </a:p>
        </p:txBody>
      </p:sp>
      <p:pic>
        <p:nvPicPr>
          <p:cNvPr id="7" name="Graphic 6" descr="Report Add">
            <a:extLst>
              <a:ext uri="{FF2B5EF4-FFF2-40B4-BE49-F238E27FC236}">
                <a16:creationId xmlns:a16="http://schemas.microsoft.com/office/drawing/2014/main" id="{75C59847-67DD-9B63-73BF-70724D8CE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8978A7B-5D97-B200-D066-F2528F2B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Google Sheets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</a:rPr>
              <a:t>Scripts made to clean sponsor's data to become usable</a:t>
            </a:r>
          </a:p>
          <a:p>
            <a:r>
              <a:rPr lang="en-US" sz="1800" b="1">
                <a:solidFill>
                  <a:schemeClr val="tx2"/>
                </a:solidFill>
              </a:rPr>
              <a:t>SQL Database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</a:rPr>
              <a:t>Enforces strict data types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</a:rPr>
              <a:t>Prevent anomalous entries</a:t>
            </a:r>
          </a:p>
          <a:p>
            <a:r>
              <a:rPr lang="en-US" sz="1800" b="1">
                <a:solidFill>
                  <a:schemeClr val="tx2"/>
                </a:solidFill>
              </a:rPr>
              <a:t>ETL Pipeline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</a:rPr>
              <a:t>Extract data from sheets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</a:rPr>
              <a:t>Transform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</a:rPr>
              <a:t>Load into database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20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95605-3038-1032-95F7-3F5ED2D6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89F5-3912-29EE-9ADA-779E216DA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281382"/>
            <a:ext cx="4646905" cy="422505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/>
            <a:r>
              <a:rPr lang="en-US" sz="2200" b="1"/>
              <a:t>Anthropic LLM</a:t>
            </a:r>
            <a:endParaRPr lang="en-US"/>
          </a:p>
          <a:p>
            <a:pPr marL="742950" lvl="1" indent="-285750"/>
            <a:r>
              <a:rPr lang="en-US" sz="1600"/>
              <a:t>Integrate Anthropic API to use Claude Sonnet as a chat interface so client can "talk" to dashboard</a:t>
            </a:r>
          </a:p>
          <a:p>
            <a:pPr marL="285750" indent="-285750"/>
            <a:r>
              <a:rPr lang="en-US" sz="2200" b="1"/>
              <a:t>Google Domains</a:t>
            </a:r>
          </a:p>
          <a:p>
            <a:pPr marL="742950" lvl="1" indent="-285750"/>
            <a:r>
              <a:rPr lang="en-US" sz="1600"/>
              <a:t>Located within GCP environment</a:t>
            </a:r>
          </a:p>
          <a:p>
            <a:pPr marL="742950" lvl="1" indent="-285750"/>
            <a:r>
              <a:rPr lang="en-US" sz="1600"/>
              <a:t>Register domain names, configure A / AAA records, and configure Google DNS systems</a:t>
            </a:r>
          </a:p>
          <a:p>
            <a:pPr marL="742950" lvl="1" indent="-285750"/>
            <a:r>
              <a:rPr lang="en-US" sz="1600"/>
              <a:t>Needed for TLS encryption for HTTPS requests</a:t>
            </a:r>
          </a:p>
          <a:p>
            <a:pPr marL="285750" indent="-285750"/>
            <a:r>
              <a:rPr lang="en-US" sz="2000"/>
              <a:t>Google Cloud VM, Docker, and Cursor IDE all same from earlier sprints</a:t>
            </a:r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0C061FB2-9FD1-5C6E-41F6-32EB84A5E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17" r="1184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0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ED84C-8114-165C-34A2-4050344D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Brett's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8323-8C95-05DE-1FCA-62557336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LLM Implementation lead</a:t>
            </a:r>
          </a:p>
          <a:p>
            <a:r>
              <a:rPr lang="en-US" sz="2400"/>
              <a:t>Extensive bug fixes</a:t>
            </a:r>
          </a:p>
          <a:p>
            <a:r>
              <a:rPr lang="en-US" sz="2400"/>
              <a:t>Continued sprint 2 work of refining and applying data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55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FA17A-AA9C-072F-574B-DC6A4F57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Caleb’s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33D2-BD6F-E65C-821C-81EE296F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17850"/>
            <a:ext cx="9941319" cy="3624330"/>
          </a:xfrm>
        </p:spPr>
        <p:txBody>
          <a:bodyPr anchor="ctr">
            <a:normAutofit/>
          </a:bodyPr>
          <a:lstStyle/>
          <a:p>
            <a:pPr marL="342900" indent="-342900"/>
            <a:r>
              <a:rPr lang="en-US" sz="2400"/>
              <a:t>Development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200"/>
              <a:t>Fixed data loading bug in Overview dashboard tab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200"/>
              <a:t>Added rate limit of 5 requests / minute to LLM API endpoint to avoid misuse</a:t>
            </a:r>
          </a:p>
          <a:p>
            <a:pPr marL="342900" indent="-342900"/>
            <a:r>
              <a:rPr lang="en-US" sz="2400"/>
              <a:t>Deployment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200"/>
              <a:t>Registered and configured </a:t>
            </a:r>
            <a:r>
              <a:rPr lang="en-US" sz="2200">
                <a:hlinkClick r:id="rId3"/>
              </a:rPr>
              <a:t>strata-capital-os.com</a:t>
            </a:r>
            <a:r>
              <a:rPr lang="en-US" sz="2200"/>
              <a:t> domain name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200"/>
              <a:t>Configured TLS protocols to only serve https (secure) traffic on port 443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200"/>
              <a:t>Altered Nginx reverse proxy so domain name points at VM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007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2E038-3F80-6289-33DC-03541938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Josh’s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0E7A-2F9E-CFE8-E2AF-CC549992F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Spreadsheet Details</a:t>
            </a:r>
          </a:p>
          <a:p>
            <a:pPr lvl="1"/>
            <a:r>
              <a:rPr lang="en-US" sz="1800"/>
              <a:t>Added new columns required by figures, modified order for clarity, wrote formulas</a:t>
            </a:r>
          </a:p>
          <a:p>
            <a:r>
              <a:rPr lang="en-US" sz="2400"/>
              <a:t>Bug fixes</a:t>
            </a:r>
          </a:p>
          <a:p>
            <a:pPr lvl="1"/>
            <a:r>
              <a:rPr lang="en-US" sz="1800"/>
              <a:t>Rectified or removed artifacts introduced from multiple refactors</a:t>
            </a:r>
          </a:p>
          <a:p>
            <a:r>
              <a:rPr lang="en-US" sz="2400"/>
              <a:t>Documentation</a:t>
            </a:r>
          </a:p>
          <a:p>
            <a:pPr lvl="1"/>
            <a:r>
              <a:rPr lang="en-US" sz="1800"/>
              <a:t>"Modify and Extend" documentation section, backlog &amp; planning docs</a:t>
            </a:r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11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A932D-426F-6539-6914-96E7ADD5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A24E29-AF9A-DC1F-93B9-D24607653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6675E5-E231-9738-C5AF-A7BA2BD4D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58B382-699D-A61B-5614-8653558A7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51F5B8-4EC2-314F-F9C2-1D4A242BC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80681D-8A1B-27D2-B77A-3D26C8FBE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65AD56E-969B-60C3-6680-DB701B8CF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62660-7EC6-B7C3-F0C2-7D96569F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Donald’s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CA51-BDFE-956D-653C-39A5F7862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UI Changes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Lead Measures page readjusted for tabbed view  </a:t>
            </a:r>
            <a:endParaRPr lang="en-US"/>
          </a:p>
          <a:p>
            <a:r>
              <a:rPr lang="en-US" sz="2400"/>
              <a:t>Documentation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Created test cases against code base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B9223F-F6A5-5050-8BD1-BE3841029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964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B3466-8CB8-9FCB-F52D-6D3D700C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9A327F-40D2-E696-BD2B-484F945C7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FD462C-29C7-3345-D1E4-BBF49FED2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569D4-0634-1D88-88A3-C4DE91E36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7B76EE-956C-D451-D4D7-E3E337EF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FB2DB7-0E1B-7ABD-BC90-B43AA8D86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3FC685A-3991-83F4-1B8D-5AD32D965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EE11C-B76B-23FC-8644-7980811A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Daniel’s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5F61-6E7B-2819-A7E5-C7FD30E26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Introduced tabbed layout (Overview, Lag Measures, Lead Measures)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Improved dashboard organization and readability 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Added sticky cash bar for real-time financial visibility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Refactored UI structure in </a:t>
            </a:r>
            <a:r>
              <a:rPr lang="en-US" sz="2400" err="1">
                <a:ea typeface="+mn-lt"/>
                <a:cs typeface="+mn-lt"/>
              </a:rPr>
              <a:t>App.tsx</a:t>
            </a:r>
            <a:endParaRPr lang="en-US" err="1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D96376-DE62-DB9B-3DA3-4E2155116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18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15EC-07C3-37D7-A2D4-229525C0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BF71A84-0763-08BA-2DC2-D78F143F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>
                <a:ea typeface="+mn-lt"/>
                <a:cs typeface="+mn-lt"/>
                <a:hlinkClick r:id="rId3"/>
              </a:rPr>
              <a:t>https://strata-capital-os.com/login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94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26901-0D0D-1DD1-24F3-378FCED8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300" y="1562669"/>
            <a:ext cx="3389515" cy="23806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 Questions?</a:t>
            </a:r>
          </a:p>
        </p:txBody>
      </p:sp>
      <p:pic>
        <p:nvPicPr>
          <p:cNvPr id="19" name="Picture 18" descr="Yellow and blue symbols">
            <a:extLst>
              <a:ext uri="{FF2B5EF4-FFF2-40B4-BE49-F238E27FC236}">
                <a16:creationId xmlns:a16="http://schemas.microsoft.com/office/drawing/2014/main" id="{85F11F4C-8382-F05D-AFC7-BA587D8A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8" r="9804" b="1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794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Decision Support Sprint 3</vt:lpstr>
      <vt:lpstr>Decision Support Team</vt:lpstr>
      <vt:lpstr>Project Focus</vt:lpstr>
      <vt:lpstr>Prioritized Sprint 3 Goals</vt:lpstr>
      <vt:lpstr>Sprint Achievements and Sponsor Feedback</vt:lpstr>
      <vt:lpstr>Sprint Backlog</vt:lpstr>
      <vt:lpstr>Cyber Feedback</vt:lpstr>
      <vt:lpstr>Accessibility and Inclusive Design Features</vt:lpstr>
      <vt:lpstr>Lessons Learned</vt:lpstr>
      <vt:lpstr>Technologies</vt:lpstr>
      <vt:lpstr>Brett's Contribution</vt:lpstr>
      <vt:lpstr>Caleb’s Contribution</vt:lpstr>
      <vt:lpstr>Josh’s Contribution</vt:lpstr>
      <vt:lpstr>Donald’s Contribution</vt:lpstr>
      <vt:lpstr>Daniel’s Contribution</vt:lpstr>
      <vt:lpstr>Demo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Support Sprint 2</dc:title>
  <dc:creator>Caleb Erickson</dc:creator>
  <cp:revision>4</cp:revision>
  <dcterms:created xsi:type="dcterms:W3CDTF">2026-02-17T20:40:00Z</dcterms:created>
  <dcterms:modified xsi:type="dcterms:W3CDTF">2026-04-21T17:52:28Z</dcterms:modified>
</cp:coreProperties>
</file>